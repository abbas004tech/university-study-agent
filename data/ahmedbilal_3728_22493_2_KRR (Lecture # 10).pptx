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19F9A-D827-4B7E-80FC-2E2C5FC403EF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AB0C6-38D1-42CC-BF2B-380F6672281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7AB0C6-38D1-42CC-BF2B-380F6672281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7ACAF-6C10-4694-AC2C-FB914C9C3B7A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31B3-D7E6-4389-97F0-BB8E661E2907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7986-2853-4877-AC3D-EE45EE8927D2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845-D97B-454C-B93D-F40E80586FB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38867-BF55-4E15-A428-B240573B4974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F82C-E6E6-4FFB-80D5-3B1F7F3B4FDD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67447-9A66-4257-BEA6-754A9B33212C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6744-552E-4D23-AACD-A6AB5A1506E0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1AAB-AD71-4976-ACDF-48E80A8913F6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DC92-138B-41DA-A8F6-5C75FDD9171A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9186A-BC4A-48C1-A9F7-F7B66CCDB0B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0FEAA-D5B6-4B95-A6F5-FAD45368BDAF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cid:image002.jpg@01D9CAE1.6DC06D00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609600"/>
            <a:ext cx="7772400" cy="1470025"/>
          </a:xfrm>
        </p:spPr>
        <p:txBody>
          <a:bodyPr anchor="t">
            <a:normAutofit/>
          </a:bodyPr>
          <a:lstStyle/>
          <a:p>
            <a:pPr algn="r"/>
            <a:r>
              <a:rPr lang="en-US" sz="2000" dirty="0"/>
              <a:t>SHAHEED ZULFIKAR ALI BHUTTO INSTITUTE OF</a:t>
            </a:r>
            <a:br>
              <a:rPr lang="en-US" sz="2000" dirty="0"/>
            </a:br>
            <a:r>
              <a:rPr lang="en-US" sz="2000" dirty="0"/>
              <a:t>SCIENCE AND TECHNOLOGY UNIVERSITY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14600"/>
            <a:ext cx="6400800" cy="1752600"/>
          </a:xfrm>
        </p:spPr>
        <p:txBody>
          <a:bodyPr anchor="ctr"/>
          <a:lstStyle/>
          <a:p>
            <a:r>
              <a:rPr lang="en-US" dirty="0"/>
              <a:t>Knowledge Representation and Reasoning (KRR</a:t>
            </a:r>
            <a:r>
              <a:rPr lang="en-US" dirty="0" smtClean="0"/>
              <a:t>)</a:t>
            </a:r>
          </a:p>
          <a:p>
            <a:r>
              <a:rPr lang="en-US" sz="2400" dirty="0" smtClean="0"/>
              <a:t>(Course Code: AIC 3502)</a:t>
            </a:r>
            <a:endParaRPr lang="en-US" sz="2400" dirty="0"/>
          </a:p>
        </p:txBody>
      </p:sp>
      <p:pic>
        <p:nvPicPr>
          <p:cNvPr id="4" name="Picture 3" descr="https://szabist.edu.pk/wp-content/uploads/2023/08/thumbnail_PHOTO-2023-08-07-13-44-35.jpg"/>
          <p:cNvPicPr/>
          <p:nvPr/>
        </p:nvPicPr>
        <p:blipFill>
          <a:blip r:embed="rId3" r:link="rId4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27908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3429000" y="5486400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u="sng" dirty="0" smtClean="0"/>
              <a:t>Prepared By</a:t>
            </a:r>
          </a:p>
          <a:p>
            <a:pPr algn="r"/>
            <a:r>
              <a:rPr lang="en-US" dirty="0" err="1" smtClean="0"/>
              <a:t>Bilal</a:t>
            </a:r>
            <a:r>
              <a:rPr lang="en-US" dirty="0" smtClean="0"/>
              <a:t> Ahmed</a:t>
            </a:r>
          </a:p>
          <a:p>
            <a:pPr algn="r"/>
            <a:r>
              <a:rPr lang="en-US" dirty="0" smtClean="0"/>
              <a:t>Lecturer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464820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/>
              <a:t>Lecture # </a:t>
            </a:r>
            <a:r>
              <a:rPr lang="en-US" sz="2400" b="1" u="sng" dirty="0" smtClean="0"/>
              <a:t>10</a:t>
            </a:r>
            <a:endParaRPr lang="en-US" sz="2400" b="1" u="sn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/>
              <a:t>Vagueness</a:t>
            </a:r>
            <a:endParaRPr lang="en-US" sz="3600" b="1" u="sng" dirty="0" smtClean="0"/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Vagueness</a:t>
            </a:r>
            <a:r>
              <a:rPr lang="en-US" sz="2400" dirty="0" smtClean="0"/>
              <a:t> </a:t>
            </a:r>
            <a:r>
              <a:rPr lang="en-US" sz="2400" dirty="0" smtClean="0"/>
              <a:t>refers to situations where the </a:t>
            </a:r>
            <a:r>
              <a:rPr lang="en-US" sz="2400" i="1" dirty="0" smtClean="0"/>
              <a:t>boundaries of a concept are unclear</a:t>
            </a:r>
            <a:r>
              <a:rPr lang="en-US" sz="2400" dirty="0" smtClean="0"/>
              <a:t>, and there is </a:t>
            </a:r>
            <a:r>
              <a:rPr lang="en-US" sz="2400" b="1" dirty="0" smtClean="0"/>
              <a:t>no precise point</a:t>
            </a:r>
            <a:r>
              <a:rPr lang="en-US" sz="2400" dirty="0" smtClean="0"/>
              <a:t> at which the concept definitely applies or definitely does not apply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r>
              <a:rPr lang="en-US" sz="2400" dirty="0" smtClean="0"/>
              <a:t>In KRR, vagueness arises when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Concepts have </a:t>
            </a:r>
            <a:r>
              <a:rPr lang="en-US" sz="2400" b="1" dirty="0" smtClean="0"/>
              <a:t>no sharp </a:t>
            </a:r>
            <a:r>
              <a:rPr lang="en-US" sz="2400" b="1" dirty="0" smtClean="0"/>
              <a:t>boundaries.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Values are </a:t>
            </a:r>
            <a:r>
              <a:rPr lang="en-US" sz="2400" b="1" dirty="0" smtClean="0"/>
              <a:t>gradual or </a:t>
            </a:r>
            <a:r>
              <a:rPr lang="en-US" sz="2400" b="1" dirty="0" smtClean="0"/>
              <a:t>continuous.</a:t>
            </a:r>
          </a:p>
          <a:p>
            <a:pPr>
              <a:buFont typeface="Wingdings" pitchFamily="2" charset="2"/>
              <a:buChar char="ü"/>
            </a:pPr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Natural language terms are </a:t>
            </a:r>
            <a:r>
              <a:rPr lang="en-US" sz="2400" b="1" dirty="0" smtClean="0"/>
              <a:t>imprecise.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Reasoning depends on </a:t>
            </a:r>
            <a:r>
              <a:rPr lang="en-US" sz="2400" b="1" dirty="0" smtClean="0"/>
              <a:t>degrees</a:t>
            </a:r>
            <a:r>
              <a:rPr lang="en-US" sz="2400" dirty="0" smtClean="0"/>
              <a:t> instead of binary truth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/>
              <a:t>Examples</a:t>
            </a:r>
            <a:endParaRPr lang="en-US" sz="3600" b="1" u="sng" dirty="0" smtClean="0"/>
          </a:p>
          <a:p>
            <a:pPr algn="just"/>
            <a:endParaRPr lang="en-US" sz="2400" b="1" dirty="0" smtClean="0"/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tall</a:t>
            </a:r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young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near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hot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expensive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heavy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intelligent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Slow</a:t>
            </a:r>
          </a:p>
          <a:p>
            <a:endParaRPr lang="en-US" sz="2400" dirty="0" smtClean="0"/>
          </a:p>
          <a:p>
            <a:r>
              <a:rPr lang="en-US" sz="2400" dirty="0" smtClean="0"/>
              <a:t>These terms change meaning depending on context and interpretation.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u="sng" dirty="0" smtClean="0"/>
              <a:t>Why Vagueness is a Problem in KRR</a:t>
            </a:r>
            <a:endParaRPr lang="en-US" sz="3400" b="1" u="sng" dirty="0" smtClean="0"/>
          </a:p>
          <a:p>
            <a:r>
              <a:rPr lang="en-US" sz="2400" dirty="0" smtClean="0"/>
              <a:t>Traditional logic (propositional or FOL) works with: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b="1" dirty="0" smtClean="0"/>
              <a:t>True (1)</a:t>
            </a:r>
            <a:r>
              <a:rPr lang="en-US" sz="2400" dirty="0" smtClean="0"/>
              <a:t> or </a:t>
            </a:r>
            <a:r>
              <a:rPr lang="en-US" sz="2400" b="1" dirty="0" smtClean="0"/>
              <a:t>False (0)</a:t>
            </a:r>
            <a:endParaRPr lang="en-US" sz="2400" dirty="0" smtClean="0"/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Clear  or Crisp definitions,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But vague concepts: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Cannot be represented </a:t>
            </a:r>
            <a:r>
              <a:rPr lang="en-US" sz="2400" dirty="0" smtClean="0"/>
              <a:t>precisely.</a:t>
            </a:r>
            <a:endParaRPr lang="en-US" sz="2400" dirty="0" smtClean="0"/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Do not have clear </a:t>
            </a:r>
            <a:r>
              <a:rPr lang="en-US" sz="2400" dirty="0" smtClean="0"/>
              <a:t>thresholds.</a:t>
            </a:r>
            <a:endParaRPr lang="en-US" sz="2400" dirty="0" smtClean="0"/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Lead to cases where we cannot say “Yes” or “No” </a:t>
            </a:r>
            <a:r>
              <a:rPr lang="en-US" sz="2400" dirty="0" smtClean="0"/>
              <a:t>exactly.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Example</a:t>
            </a:r>
            <a:r>
              <a:rPr lang="en-US" sz="2400" dirty="0" smtClean="0"/>
              <a:t>:</a:t>
            </a:r>
          </a:p>
          <a:p>
            <a:r>
              <a:rPr lang="en-US" sz="2400" dirty="0" smtClean="0"/>
              <a:t>Is a person </a:t>
            </a:r>
            <a:r>
              <a:rPr lang="en-US" sz="2400" b="1" dirty="0" smtClean="0"/>
              <a:t>tall</a:t>
            </a:r>
            <a:r>
              <a:rPr lang="en-US" sz="2400" dirty="0" smtClean="0"/>
              <a:t>?</a:t>
            </a:r>
          </a:p>
          <a:p>
            <a:pPr lvl="1"/>
            <a:r>
              <a:rPr lang="en-US" sz="2400" dirty="0" smtClean="0"/>
              <a:t>At 150 cm → No</a:t>
            </a:r>
          </a:p>
          <a:p>
            <a:pPr lvl="1"/>
            <a:r>
              <a:rPr lang="en-US" sz="2400" dirty="0" smtClean="0"/>
              <a:t>At 210 cm → Yes</a:t>
            </a:r>
          </a:p>
          <a:p>
            <a:pPr lvl="1"/>
            <a:r>
              <a:rPr lang="en-US" sz="2400" dirty="0" smtClean="0"/>
              <a:t>At 175 cm → Unclear (“borderline case</a:t>
            </a:r>
            <a:r>
              <a:rPr lang="en-US" sz="2400" dirty="0" smtClean="0"/>
              <a:t>”)</a:t>
            </a:r>
            <a:endParaRPr lang="en-US" sz="2400" dirty="0" smtClean="0"/>
          </a:p>
          <a:p>
            <a:r>
              <a:rPr lang="en-US" sz="2400" dirty="0" smtClean="0"/>
              <a:t>Traditional logic cannot handle the “unclear” or “partially true” region.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u="sng" dirty="0" smtClean="0"/>
              <a:t>Types of </a:t>
            </a:r>
            <a:r>
              <a:rPr lang="en-US" sz="3400" b="1" u="sng" dirty="0" smtClean="0"/>
              <a:t>Vagueness</a:t>
            </a:r>
          </a:p>
          <a:p>
            <a:r>
              <a:rPr lang="en-US" sz="2100" b="1" dirty="0" smtClean="0"/>
              <a:t>1)	</a:t>
            </a:r>
            <a:r>
              <a:rPr lang="en-US" sz="2100" b="1" u="sng" dirty="0" smtClean="0"/>
              <a:t>Vague </a:t>
            </a:r>
            <a:r>
              <a:rPr lang="en-US" sz="2100" b="1" u="sng" dirty="0" smtClean="0"/>
              <a:t>Predicates</a:t>
            </a:r>
            <a:r>
              <a:rPr lang="en-US" sz="2100" dirty="0" smtClean="0"/>
              <a:t/>
            </a:r>
            <a:br>
              <a:rPr lang="en-US" sz="2100" dirty="0" smtClean="0"/>
            </a:br>
            <a:r>
              <a:rPr lang="en-US" sz="2100" dirty="0" smtClean="0"/>
              <a:t>Words whose meaning is fuzzy</a:t>
            </a:r>
          </a:p>
          <a:p>
            <a:r>
              <a:rPr lang="en-US" sz="2100" i="1" dirty="0" smtClean="0"/>
              <a:t>Tall</a:t>
            </a:r>
            <a:r>
              <a:rPr lang="en-US" sz="2100" dirty="0" smtClean="0"/>
              <a:t>, </a:t>
            </a:r>
            <a:r>
              <a:rPr lang="en-US" sz="2100" i="1" dirty="0" smtClean="0"/>
              <a:t>hot</a:t>
            </a:r>
            <a:r>
              <a:rPr lang="en-US" sz="2100" dirty="0" smtClean="0"/>
              <a:t>, </a:t>
            </a:r>
            <a:r>
              <a:rPr lang="en-US" sz="2100" i="1" dirty="0" smtClean="0"/>
              <a:t>big</a:t>
            </a:r>
          </a:p>
          <a:p>
            <a:endParaRPr lang="en-US" sz="2100" dirty="0" smtClean="0"/>
          </a:p>
          <a:p>
            <a:r>
              <a:rPr lang="en-US" sz="2100" b="1" dirty="0" smtClean="0"/>
              <a:t>2)	</a:t>
            </a:r>
            <a:r>
              <a:rPr lang="en-US" sz="2100" b="1" u="sng" dirty="0" err="1" smtClean="0"/>
              <a:t>Sorites</a:t>
            </a:r>
            <a:r>
              <a:rPr lang="en-US" sz="2100" b="1" u="sng" dirty="0" smtClean="0"/>
              <a:t> </a:t>
            </a:r>
            <a:r>
              <a:rPr lang="en-US" sz="2100" b="1" u="sng" dirty="0" smtClean="0"/>
              <a:t>Paradox</a:t>
            </a:r>
            <a:r>
              <a:rPr lang="en-US" sz="2100" dirty="0" smtClean="0"/>
              <a:t/>
            </a:r>
            <a:br>
              <a:rPr lang="en-US" sz="2100" dirty="0" smtClean="0"/>
            </a:br>
            <a:r>
              <a:rPr lang="en-US" sz="2100" dirty="0" smtClean="0"/>
              <a:t>Adding or removing small amounts doesn't change classification abruptly</a:t>
            </a:r>
          </a:p>
          <a:p>
            <a:r>
              <a:rPr lang="en-US" sz="2100" dirty="0" smtClean="0"/>
              <a:t>1 grain of sand ≠ a heap</a:t>
            </a:r>
          </a:p>
          <a:p>
            <a:r>
              <a:rPr lang="en-US" sz="2100" dirty="0" smtClean="0"/>
              <a:t>1,000,000 grains = a heap</a:t>
            </a:r>
          </a:p>
          <a:p>
            <a:r>
              <a:rPr lang="en-US" sz="2100" dirty="0" smtClean="0"/>
              <a:t>Where exactly is the boundary</a:t>
            </a:r>
            <a:r>
              <a:rPr lang="en-US" sz="2100" dirty="0" smtClean="0"/>
              <a:t>?</a:t>
            </a:r>
          </a:p>
          <a:p>
            <a:endParaRPr lang="en-US" sz="2100" dirty="0" smtClean="0"/>
          </a:p>
          <a:p>
            <a:r>
              <a:rPr lang="en-US" sz="2100" b="1" dirty="0" smtClean="0"/>
              <a:t>3)	</a:t>
            </a:r>
            <a:r>
              <a:rPr lang="en-US" sz="2100" b="1" u="sng" dirty="0" smtClean="0"/>
              <a:t>Borderline </a:t>
            </a:r>
            <a:r>
              <a:rPr lang="en-US" sz="2100" b="1" u="sng" dirty="0" smtClean="0"/>
              <a:t>Cases</a:t>
            </a:r>
            <a:r>
              <a:rPr lang="en-US" sz="2100" dirty="0" smtClean="0"/>
              <a:t/>
            </a:r>
            <a:br>
              <a:rPr lang="en-US" sz="2100" dirty="0" smtClean="0"/>
            </a:br>
            <a:r>
              <a:rPr lang="en-US" sz="2100" dirty="0" smtClean="0"/>
              <a:t>Cases where classification is not clear</a:t>
            </a:r>
          </a:p>
          <a:p>
            <a:r>
              <a:rPr lang="en-US" sz="2100" dirty="0" smtClean="0"/>
              <a:t>A 17.9°C temperature: cold or warm</a:t>
            </a:r>
            <a:r>
              <a:rPr lang="en-US" sz="2100" dirty="0" smtClean="0"/>
              <a:t>?</a:t>
            </a:r>
          </a:p>
          <a:p>
            <a:endParaRPr lang="en-US" sz="2100" dirty="0" smtClean="0"/>
          </a:p>
          <a:p>
            <a:r>
              <a:rPr lang="en-US" sz="2100" b="1" dirty="0" smtClean="0"/>
              <a:t>4)	</a:t>
            </a:r>
            <a:r>
              <a:rPr lang="en-US" sz="2100" b="1" u="sng" dirty="0" smtClean="0"/>
              <a:t>Contextual </a:t>
            </a:r>
            <a:r>
              <a:rPr lang="en-US" sz="2100" b="1" u="sng" dirty="0" smtClean="0"/>
              <a:t>Vagueness</a:t>
            </a:r>
            <a:r>
              <a:rPr lang="en-US" sz="2100" dirty="0" smtClean="0"/>
              <a:t/>
            </a:r>
            <a:br>
              <a:rPr lang="en-US" sz="2100" dirty="0" smtClean="0"/>
            </a:br>
            <a:r>
              <a:rPr lang="en-US" sz="2100" dirty="0" smtClean="0"/>
              <a:t>Meaning depends on context</a:t>
            </a:r>
          </a:p>
          <a:p>
            <a:r>
              <a:rPr lang="en-US" sz="2100" dirty="0" smtClean="0"/>
              <a:t>“Near” depends on scale (city </a:t>
            </a:r>
            <a:r>
              <a:rPr lang="en-US" sz="2100" dirty="0" err="1" smtClean="0"/>
              <a:t>vs</a:t>
            </a:r>
            <a:r>
              <a:rPr lang="en-US" sz="2100" dirty="0" smtClean="0"/>
              <a:t> country)</a:t>
            </a:r>
          </a:p>
          <a:p>
            <a:pPr lvl="1"/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660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/>
              <a:t>How KRR Handles </a:t>
            </a:r>
            <a:r>
              <a:rPr lang="en-US" sz="3600" b="1" u="sng" dirty="0" smtClean="0"/>
              <a:t>Vagueness</a:t>
            </a:r>
          </a:p>
          <a:p>
            <a:endParaRPr lang="en-US" b="1" u="sng" dirty="0" smtClean="0"/>
          </a:p>
          <a:p>
            <a:r>
              <a:rPr lang="en-US" sz="2400" b="1" u="sng" dirty="0" smtClean="0"/>
              <a:t>1</a:t>
            </a:r>
            <a:r>
              <a:rPr lang="en-US" sz="2400" b="1" u="sng" dirty="0" smtClean="0"/>
              <a:t>. Fuzzy Logic (most common approach)</a:t>
            </a:r>
          </a:p>
          <a:p>
            <a:r>
              <a:rPr lang="en-US" sz="2400" dirty="0" smtClean="0"/>
              <a:t>Truth values range from </a:t>
            </a:r>
            <a:r>
              <a:rPr lang="en-US" sz="2400" b="1" dirty="0" smtClean="0"/>
              <a:t>0 to </a:t>
            </a:r>
            <a:r>
              <a:rPr lang="en-US" sz="2400" b="1" dirty="0" smtClean="0"/>
              <a:t>1.</a:t>
            </a:r>
            <a:endParaRPr lang="en-US" sz="2400" dirty="0" smtClean="0"/>
          </a:p>
          <a:p>
            <a:r>
              <a:rPr lang="en-US" sz="2400" dirty="0" smtClean="0"/>
              <a:t>Represent </a:t>
            </a:r>
            <a:r>
              <a:rPr lang="en-US" sz="2400" i="1" dirty="0" smtClean="0"/>
              <a:t>tall</a:t>
            </a:r>
            <a:r>
              <a:rPr lang="en-US" sz="2400" dirty="0" smtClean="0"/>
              <a:t> as:</a:t>
            </a:r>
          </a:p>
          <a:p>
            <a:pPr lvl="1"/>
            <a:r>
              <a:rPr lang="en-US" sz="2400" dirty="0" smtClean="0"/>
              <a:t>170 cm → 0.4 tall</a:t>
            </a:r>
          </a:p>
          <a:p>
            <a:pPr lvl="1"/>
            <a:r>
              <a:rPr lang="en-US" sz="2400" dirty="0" smtClean="0"/>
              <a:t>180 cm → 0.7 tall</a:t>
            </a:r>
          </a:p>
          <a:p>
            <a:pPr lvl="1"/>
            <a:r>
              <a:rPr lang="en-US" sz="2400" dirty="0" smtClean="0"/>
              <a:t>190 cm → 0.9 </a:t>
            </a:r>
            <a:r>
              <a:rPr lang="en-US" sz="2400" dirty="0" smtClean="0"/>
              <a:t>tall</a:t>
            </a:r>
          </a:p>
          <a:p>
            <a:pPr lvl="1"/>
            <a:endParaRPr lang="en-US" sz="2400" dirty="0" smtClean="0"/>
          </a:p>
          <a:p>
            <a:r>
              <a:rPr lang="en-US" sz="2400" b="1" u="sng" dirty="0" smtClean="0"/>
              <a:t>2. Probabilistic Reasoning</a:t>
            </a:r>
          </a:p>
          <a:p>
            <a:r>
              <a:rPr lang="en-US" sz="2400" dirty="0" smtClean="0"/>
              <a:t>Represents uncertainty, not vagueness </a:t>
            </a:r>
            <a:r>
              <a:rPr lang="en-US" sz="2400" dirty="0" smtClean="0"/>
              <a:t>exactly.</a:t>
            </a:r>
            <a:endParaRPr lang="en-US" sz="2400" dirty="0" smtClean="0"/>
          </a:p>
          <a:p>
            <a:r>
              <a:rPr lang="en-US" sz="2400" dirty="0" smtClean="0"/>
              <a:t>Example:</a:t>
            </a:r>
          </a:p>
          <a:p>
            <a:pPr lvl="1"/>
            <a:r>
              <a:rPr lang="en-US" sz="2400" dirty="0" smtClean="0"/>
              <a:t>A person is tall with probability </a:t>
            </a:r>
            <a:r>
              <a:rPr lang="en-US" sz="2400" dirty="0" smtClean="0"/>
              <a:t>0.6</a:t>
            </a:r>
          </a:p>
          <a:p>
            <a:pPr lvl="1"/>
            <a:endParaRPr lang="en-US" dirty="0" smtClean="0"/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3</a:t>
            </a:r>
            <a:r>
              <a:rPr lang="en-US" sz="2400" b="1" u="sng" dirty="0" smtClean="0"/>
              <a:t>. Rough Set Theory</a:t>
            </a:r>
          </a:p>
          <a:p>
            <a:r>
              <a:rPr lang="en-US" sz="2400" dirty="0" smtClean="0"/>
              <a:t>Uses lower and upper approximations</a:t>
            </a:r>
          </a:p>
          <a:p>
            <a:r>
              <a:rPr lang="en-US" sz="2400" dirty="0" smtClean="0"/>
              <a:t>Example:</a:t>
            </a:r>
          </a:p>
          <a:p>
            <a:pPr lvl="1"/>
            <a:r>
              <a:rPr lang="en-US" sz="2400" dirty="0" smtClean="0"/>
              <a:t>Definitely tall</a:t>
            </a:r>
          </a:p>
          <a:p>
            <a:pPr lvl="1"/>
            <a:r>
              <a:rPr lang="en-US" sz="2400" dirty="0" smtClean="0"/>
              <a:t>Possibly tall</a:t>
            </a:r>
          </a:p>
          <a:p>
            <a:pPr lvl="1"/>
            <a:r>
              <a:rPr lang="en-US" sz="2400" dirty="0" smtClean="0"/>
              <a:t>Not tall</a:t>
            </a:r>
          </a:p>
          <a:p>
            <a:pPr lvl="1"/>
            <a:endParaRPr lang="en-US" sz="2400" dirty="0" smtClean="0"/>
          </a:p>
          <a:p>
            <a:r>
              <a:rPr lang="en-US" sz="2400" b="1" u="sng" dirty="0" smtClean="0"/>
              <a:t>4. Multi-valued Logics</a:t>
            </a:r>
          </a:p>
          <a:p>
            <a:r>
              <a:rPr lang="en-US" sz="2400" dirty="0" smtClean="0"/>
              <a:t>More than two truth values</a:t>
            </a:r>
          </a:p>
          <a:p>
            <a:r>
              <a:rPr lang="en-US" sz="2400" dirty="0" smtClean="0"/>
              <a:t>Example: {true, false, unknown}</a:t>
            </a:r>
          </a:p>
          <a:p>
            <a:pPr lvl="1"/>
            <a:endParaRPr lang="en-US" dirty="0" smtClean="0"/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077200" cy="7986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 smtClean="0"/>
              <a:t>Real-world Applications of Handling Vagueness</a:t>
            </a:r>
          </a:p>
          <a:p>
            <a:endParaRPr lang="en-US" b="1" u="sng" dirty="0" smtClean="0"/>
          </a:p>
          <a:p>
            <a:r>
              <a:rPr lang="en-US" sz="2400" b="1" dirty="0" smtClean="0"/>
              <a:t>1) Medical </a:t>
            </a:r>
            <a:r>
              <a:rPr lang="en-US" sz="2400" b="1" dirty="0" smtClean="0"/>
              <a:t>Diagnosis</a:t>
            </a:r>
            <a:endParaRPr lang="en-US" sz="2400" dirty="0" smtClean="0"/>
          </a:p>
          <a:p>
            <a:r>
              <a:rPr lang="en-US" sz="2400" dirty="0" smtClean="0"/>
              <a:t>“High blood pressure” is vague</a:t>
            </a:r>
          </a:p>
          <a:p>
            <a:r>
              <a:rPr lang="en-US" sz="2400" dirty="0" smtClean="0"/>
              <a:t>Symptoms often </a:t>
            </a:r>
            <a:r>
              <a:rPr lang="en-US" sz="2400" dirty="0" smtClean="0"/>
              <a:t>gradual</a:t>
            </a:r>
          </a:p>
          <a:p>
            <a:endParaRPr lang="en-US" sz="2400" dirty="0" smtClean="0"/>
          </a:p>
          <a:p>
            <a:r>
              <a:rPr lang="en-US" sz="2400" b="1" dirty="0" smtClean="0"/>
              <a:t>2) Trading </a:t>
            </a:r>
            <a:r>
              <a:rPr lang="en-US" sz="2400" b="1" dirty="0" smtClean="0"/>
              <a:t>Algorithms</a:t>
            </a:r>
            <a:endParaRPr lang="en-US" sz="2400" dirty="0" smtClean="0"/>
          </a:p>
          <a:p>
            <a:r>
              <a:rPr lang="en-US" sz="2400" dirty="0" smtClean="0"/>
              <a:t>“Strong trend”, “Overbought”, “High volatility” are </a:t>
            </a:r>
            <a:r>
              <a:rPr lang="en-US" sz="2400" dirty="0" smtClean="0"/>
              <a:t>vague</a:t>
            </a:r>
          </a:p>
          <a:p>
            <a:endParaRPr lang="en-US" sz="2400" dirty="0" smtClean="0"/>
          </a:p>
          <a:p>
            <a:r>
              <a:rPr lang="en-US" sz="2400" b="1" dirty="0" smtClean="0"/>
              <a:t>3) Robotics</a:t>
            </a:r>
            <a:endParaRPr lang="en-US" sz="2400" dirty="0" smtClean="0"/>
          </a:p>
          <a:p>
            <a:r>
              <a:rPr lang="en-US" sz="2400" dirty="0" smtClean="0"/>
              <a:t>“Near obstacle”, “Slow speed” require fuzzy </a:t>
            </a:r>
            <a:r>
              <a:rPr lang="en-US" sz="2400" dirty="0" smtClean="0"/>
              <a:t>reasoning</a:t>
            </a:r>
          </a:p>
          <a:p>
            <a:endParaRPr lang="en-US" sz="2400" dirty="0" smtClean="0"/>
          </a:p>
          <a:p>
            <a:r>
              <a:rPr lang="en-US" sz="2400" b="1" dirty="0" smtClean="0"/>
              <a:t>4) NLP</a:t>
            </a:r>
            <a:endParaRPr lang="en-US" sz="2400" dirty="0" smtClean="0"/>
          </a:p>
          <a:p>
            <a:r>
              <a:rPr lang="en-US" sz="2400" dirty="0" smtClean="0"/>
              <a:t>Human language is full of vague </a:t>
            </a:r>
            <a:r>
              <a:rPr lang="en-US" sz="2400" dirty="0" smtClean="0"/>
              <a:t>terms</a:t>
            </a:r>
          </a:p>
          <a:p>
            <a:endParaRPr lang="en-US" sz="2400" dirty="0" smtClean="0"/>
          </a:p>
          <a:p>
            <a:r>
              <a:rPr lang="en-US" sz="2400" b="1" dirty="0" smtClean="0"/>
              <a:t>5) Smart </a:t>
            </a:r>
            <a:r>
              <a:rPr lang="en-US" sz="2400" b="1" dirty="0" smtClean="0"/>
              <a:t>appliances</a:t>
            </a:r>
            <a:endParaRPr lang="en-US" sz="2400" dirty="0" smtClean="0"/>
          </a:p>
          <a:p>
            <a:r>
              <a:rPr lang="en-US" sz="2400" dirty="0" smtClean="0"/>
              <a:t>AC settings: cool, warm, hot → fuzzy states</a:t>
            </a:r>
          </a:p>
          <a:p>
            <a:endParaRPr lang="en-US" dirty="0" smtClean="0"/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6663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u="sng" dirty="0" smtClean="0"/>
              <a:t>Uncertainty in KRR</a:t>
            </a:r>
            <a:endParaRPr lang="en-US" sz="3400" b="1" u="sng" dirty="0" smtClean="0"/>
          </a:p>
          <a:p>
            <a:endParaRPr lang="en-US" sz="2400" dirty="0" smtClean="0"/>
          </a:p>
          <a:p>
            <a:pPr algn="just"/>
            <a:r>
              <a:rPr lang="en-US" sz="2400" dirty="0" smtClean="0"/>
              <a:t>In </a:t>
            </a:r>
            <a:r>
              <a:rPr lang="en-US" sz="2400" dirty="0" smtClean="0"/>
              <a:t>KRR, Uncertainty refers to situations where an intelligent system does not have complete, accurate, or reliable </a:t>
            </a:r>
            <a:r>
              <a:rPr lang="en-US" sz="2400" dirty="0" smtClean="0"/>
              <a:t>information about </a:t>
            </a:r>
            <a:r>
              <a:rPr lang="en-US" sz="2400" dirty="0" smtClean="0"/>
              <a:t>the world.</a:t>
            </a:r>
            <a:br>
              <a:rPr lang="en-US" sz="2400" dirty="0" smtClean="0"/>
            </a:br>
            <a:endParaRPr lang="en-US" sz="2400" dirty="0" smtClean="0"/>
          </a:p>
          <a:p>
            <a:pPr algn="just"/>
            <a:r>
              <a:rPr lang="en-US" sz="2400" dirty="0" smtClean="0"/>
              <a:t>Because </a:t>
            </a:r>
            <a:r>
              <a:rPr lang="en-US" sz="2400" dirty="0" smtClean="0"/>
              <a:t>of this, the system cannot determine truth or action with full confidence.</a:t>
            </a:r>
          </a:p>
          <a:p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 smtClean="0"/>
              <a:t>simple terms:</a:t>
            </a:r>
          </a:p>
          <a:p>
            <a:endParaRPr lang="en-US" sz="2400" b="1" dirty="0" smtClean="0"/>
          </a:p>
          <a:p>
            <a:r>
              <a:rPr lang="en-US" sz="2400" b="1" dirty="0" smtClean="0">
                <a:solidFill>
                  <a:srgbClr val="00B050"/>
                </a:solidFill>
                <a:latin typeface="Comic Sans MS" pitchFamily="66" charset="0"/>
              </a:rPr>
              <a:t>Uncertainty </a:t>
            </a:r>
            <a:r>
              <a:rPr lang="en-US" sz="2400" b="1" dirty="0" smtClean="0">
                <a:solidFill>
                  <a:srgbClr val="00B050"/>
                </a:solidFill>
                <a:latin typeface="Comic Sans MS" pitchFamily="66" charset="0"/>
              </a:rPr>
              <a:t>= lack of complete knowledge about facts, events, or outcomes.</a:t>
            </a:r>
            <a:endParaRPr lang="en-US" sz="2400" dirty="0" smtClean="0">
              <a:solidFill>
                <a:srgbClr val="00B050"/>
              </a:solidFill>
              <a:latin typeface="Comic Sans MS" pitchFamily="66" charset="0"/>
            </a:endParaRPr>
          </a:p>
          <a:p>
            <a:pPr lvl="1"/>
            <a:endParaRPr lang="en-US" dirty="0" smtClean="0"/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703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u="sng" dirty="0" smtClean="0"/>
              <a:t>Why Uncertainty Occurs in AI/KRR?</a:t>
            </a:r>
            <a:endParaRPr lang="en-US" sz="3400" b="1" u="sng" dirty="0" smtClean="0"/>
          </a:p>
          <a:p>
            <a:endParaRPr lang="en-US" sz="2400" dirty="0" smtClean="0"/>
          </a:p>
          <a:p>
            <a:r>
              <a:rPr lang="en-US" sz="2400" dirty="0" smtClean="0"/>
              <a:t>Uncertainty </a:t>
            </a:r>
            <a:r>
              <a:rPr lang="en-US" sz="2400" dirty="0" smtClean="0"/>
              <a:t>arises because: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Information can be </a:t>
            </a:r>
            <a:r>
              <a:rPr lang="en-US" sz="2400" b="1" dirty="0" smtClean="0"/>
              <a:t>incomplete</a:t>
            </a:r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Information can be </a:t>
            </a:r>
            <a:r>
              <a:rPr lang="en-US" sz="2400" b="1" dirty="0" smtClean="0"/>
              <a:t>noisy or inaccurate</a:t>
            </a:r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Information can be </a:t>
            </a:r>
            <a:r>
              <a:rPr lang="en-US" sz="2400" b="1" dirty="0" smtClean="0"/>
              <a:t>probabilistic</a:t>
            </a:r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Observations can be </a:t>
            </a:r>
            <a:r>
              <a:rPr lang="en-US" sz="2400" b="1" dirty="0" smtClean="0"/>
              <a:t>ambiguous</a:t>
            </a:r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The real world is </a:t>
            </a:r>
            <a:r>
              <a:rPr lang="en-US" sz="2400" b="1" dirty="0" smtClean="0"/>
              <a:t>dynamic and unpredictable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Example</a:t>
            </a:r>
            <a:r>
              <a:rPr lang="en-US" sz="2400" dirty="0" smtClean="0"/>
              <a:t>:</a:t>
            </a:r>
            <a:br>
              <a:rPr lang="en-US" sz="2400" dirty="0" smtClean="0"/>
            </a:br>
            <a:r>
              <a:rPr lang="en-US" sz="2400" dirty="0" smtClean="0"/>
              <a:t>A robot sees something shaped like a cat.</a:t>
            </a:r>
            <a:br>
              <a:rPr lang="en-US" sz="2400" dirty="0" smtClean="0"/>
            </a:br>
            <a:r>
              <a:rPr lang="en-US" sz="2400" dirty="0" smtClean="0"/>
              <a:t>But fogged vision → 70% chance it's a cat, 30% chance it’s a dog.</a:t>
            </a:r>
            <a:br>
              <a:rPr lang="en-US" sz="2400" dirty="0" smtClean="0"/>
            </a:br>
            <a:r>
              <a:rPr lang="en-US" sz="2400" dirty="0" smtClean="0"/>
              <a:t>This is </a:t>
            </a:r>
            <a:r>
              <a:rPr lang="en-US" sz="2400" b="1" dirty="0" smtClean="0"/>
              <a:t>uncertainty</a:t>
            </a:r>
            <a:r>
              <a:rPr lang="en-US" sz="2400" dirty="0" smtClean="0"/>
              <a:t>, not vagueness.</a:t>
            </a:r>
          </a:p>
          <a:p>
            <a:pPr lvl="1"/>
            <a:endParaRPr lang="en-US" dirty="0" smtClean="0"/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7771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u="sng" dirty="0" smtClean="0"/>
              <a:t>Types of Uncertainty in KRR</a:t>
            </a:r>
            <a:endParaRPr lang="en-US" sz="3400" b="1" u="sng" dirty="0" smtClean="0"/>
          </a:p>
          <a:p>
            <a:r>
              <a:rPr lang="en-US" sz="2400" b="1" u="sng" dirty="0" smtClean="0"/>
              <a:t>1. Probabilistic Uncertainty</a:t>
            </a:r>
          </a:p>
          <a:p>
            <a:r>
              <a:rPr lang="en-US" sz="2400" dirty="0" smtClean="0"/>
              <a:t>We know possibilities, but not certainties</a:t>
            </a:r>
          </a:p>
          <a:p>
            <a:r>
              <a:rPr lang="en-US" sz="2400" dirty="0" smtClean="0"/>
              <a:t>Represented using probabilities</a:t>
            </a:r>
          </a:p>
          <a:p>
            <a:r>
              <a:rPr lang="en-US" sz="2400" dirty="0" smtClean="0"/>
              <a:t>Example:</a:t>
            </a:r>
          </a:p>
          <a:p>
            <a:pPr lvl="1"/>
            <a:r>
              <a:rPr lang="en-US" sz="2400" dirty="0" smtClean="0"/>
              <a:t>It will rain tomorrow with probability </a:t>
            </a:r>
            <a:r>
              <a:rPr lang="en-US" sz="2400" b="1" dirty="0" smtClean="0"/>
              <a:t>0.6</a:t>
            </a:r>
          </a:p>
          <a:p>
            <a:pPr lvl="1"/>
            <a:endParaRPr lang="en-US" sz="2400" dirty="0" smtClean="0"/>
          </a:p>
          <a:p>
            <a:r>
              <a:rPr lang="en-US" sz="2400" b="1" u="sng" dirty="0" smtClean="0"/>
              <a:t>2. Incomplete Knowledge</a:t>
            </a:r>
          </a:p>
          <a:p>
            <a:r>
              <a:rPr lang="en-US" sz="2400" dirty="0" smtClean="0"/>
              <a:t>Missing information or incomplete data</a:t>
            </a:r>
          </a:p>
          <a:p>
            <a:r>
              <a:rPr lang="en-US" sz="2400" dirty="0" smtClean="0"/>
              <a:t>Example:</a:t>
            </a:r>
          </a:p>
          <a:p>
            <a:pPr lvl="1"/>
            <a:r>
              <a:rPr lang="en-US" sz="2400" dirty="0" smtClean="0"/>
              <a:t>Height of a person is unknown → cannot decide if </a:t>
            </a:r>
            <a:r>
              <a:rPr lang="en-US" sz="2400" dirty="0" smtClean="0"/>
              <a:t>tall</a:t>
            </a:r>
          </a:p>
          <a:p>
            <a:pPr lvl="1"/>
            <a:endParaRPr lang="en-US" sz="2400" dirty="0" smtClean="0"/>
          </a:p>
          <a:p>
            <a:r>
              <a:rPr lang="en-US" sz="2400" b="1" u="sng" dirty="0" smtClean="0"/>
              <a:t>3. Ambiguous Observations</a:t>
            </a:r>
          </a:p>
          <a:p>
            <a:r>
              <a:rPr lang="en-US" sz="2400" dirty="0" smtClean="0"/>
              <a:t>One piece of data has multiple interpretations</a:t>
            </a:r>
          </a:p>
          <a:p>
            <a:r>
              <a:rPr lang="en-US" sz="2400" dirty="0" smtClean="0"/>
              <a:t>Example:</a:t>
            </a:r>
          </a:p>
          <a:p>
            <a:pPr lvl="1"/>
            <a:r>
              <a:rPr lang="en-US" sz="2400" dirty="0" smtClean="0"/>
              <a:t>Sound in a forest: could be an animal or wind</a:t>
            </a:r>
          </a:p>
          <a:p>
            <a:pPr lvl="1"/>
            <a:endParaRPr lang="en-US" dirty="0" smtClean="0"/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4. Noisy or Imprecise Sensors</a:t>
            </a:r>
          </a:p>
          <a:p>
            <a:r>
              <a:rPr lang="en-US" sz="2400" dirty="0" smtClean="0"/>
              <a:t>Common in robotics</a:t>
            </a:r>
          </a:p>
          <a:p>
            <a:r>
              <a:rPr lang="en-US" sz="2400" dirty="0" smtClean="0"/>
              <a:t>Example:</a:t>
            </a:r>
          </a:p>
          <a:p>
            <a:pPr lvl="1"/>
            <a:r>
              <a:rPr lang="en-US" sz="2400" dirty="0" smtClean="0"/>
              <a:t>Distance sensor: 1.3m ± </a:t>
            </a:r>
            <a:r>
              <a:rPr lang="en-US" sz="2400" dirty="0" smtClean="0"/>
              <a:t>0.2m</a:t>
            </a:r>
          </a:p>
          <a:p>
            <a:pPr lvl="1"/>
            <a:endParaRPr lang="en-US" sz="2400" dirty="0" smtClean="0"/>
          </a:p>
          <a:p>
            <a:r>
              <a:rPr lang="en-US" sz="2400" b="1" u="sng" dirty="0" smtClean="0"/>
              <a:t>5. Non-deterministic Outcomes</a:t>
            </a:r>
          </a:p>
          <a:p>
            <a:r>
              <a:rPr lang="en-US" sz="2400" dirty="0" smtClean="0"/>
              <a:t>Action does not always produce the same result</a:t>
            </a:r>
          </a:p>
          <a:p>
            <a:r>
              <a:rPr lang="en-US" sz="2400" dirty="0" smtClean="0"/>
              <a:t>Example:</a:t>
            </a:r>
          </a:p>
          <a:p>
            <a:pPr lvl="1"/>
            <a:r>
              <a:rPr lang="en-US" sz="2400" dirty="0" smtClean="0"/>
              <a:t>Medicine cures fever in 90% cases, fails in 10%</a:t>
            </a:r>
          </a:p>
          <a:p>
            <a:pPr lvl="1"/>
            <a:endParaRPr lang="en-US" dirty="0" smtClean="0"/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7402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u="sng" dirty="0" smtClean="0"/>
              <a:t>How KRR Handles </a:t>
            </a:r>
            <a:r>
              <a:rPr lang="en-US" sz="3400" b="1" u="sng" dirty="0" smtClean="0"/>
              <a:t>Uncertainty</a:t>
            </a:r>
          </a:p>
          <a:p>
            <a:endParaRPr lang="en-US" sz="2400" b="1" dirty="0" smtClean="0"/>
          </a:p>
          <a:p>
            <a:r>
              <a:rPr lang="en-US" sz="2400" b="1" u="sng" dirty="0" smtClean="0"/>
              <a:t>1</a:t>
            </a:r>
            <a:r>
              <a:rPr lang="en-US" sz="2400" b="1" u="sng" dirty="0" smtClean="0"/>
              <a:t>. Probability Theory</a:t>
            </a:r>
          </a:p>
          <a:p>
            <a:r>
              <a:rPr lang="en-US" sz="2400" dirty="0" smtClean="0"/>
              <a:t>Uses probability distributions</a:t>
            </a:r>
          </a:p>
          <a:p>
            <a:r>
              <a:rPr lang="en-US" sz="2400" dirty="0" smtClean="0"/>
              <a:t>Example: Bayesian networks</a:t>
            </a:r>
          </a:p>
          <a:p>
            <a:r>
              <a:rPr lang="en-US" sz="2400" dirty="0" smtClean="0"/>
              <a:t>Good for statistical </a:t>
            </a:r>
            <a:r>
              <a:rPr lang="en-US" sz="2400" dirty="0" smtClean="0"/>
              <a:t>uncertainty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2. Bayesian Reasoning</a:t>
            </a:r>
          </a:p>
          <a:p>
            <a:r>
              <a:rPr lang="en-US" sz="2400" dirty="0" smtClean="0"/>
              <a:t>Updates belief based on new evidence</a:t>
            </a:r>
          </a:p>
          <a:p>
            <a:r>
              <a:rPr lang="en-US" sz="2400" dirty="0" smtClean="0"/>
              <a:t>Example:</a:t>
            </a:r>
          </a:p>
          <a:p>
            <a:pPr lvl="1"/>
            <a:r>
              <a:rPr lang="en-US" sz="2400" dirty="0" smtClean="0"/>
              <a:t>If cough + fever → probability of flu </a:t>
            </a:r>
            <a:r>
              <a:rPr lang="en-US" sz="2400" dirty="0" smtClean="0"/>
              <a:t>increases</a:t>
            </a:r>
          </a:p>
          <a:p>
            <a:pPr lvl="1"/>
            <a:endParaRPr lang="en-US" sz="2400" dirty="0" smtClean="0"/>
          </a:p>
          <a:p>
            <a:r>
              <a:rPr lang="en-US" sz="2400" b="1" u="sng" dirty="0" smtClean="0"/>
              <a:t>3. </a:t>
            </a:r>
            <a:r>
              <a:rPr lang="en-US" sz="2400" b="1" u="sng" dirty="0" err="1" smtClean="0"/>
              <a:t>Dempster</a:t>
            </a:r>
            <a:r>
              <a:rPr lang="en-US" sz="2400" b="1" u="sng" dirty="0" smtClean="0"/>
              <a:t>–Shafer Theory</a:t>
            </a:r>
          </a:p>
          <a:p>
            <a:r>
              <a:rPr lang="en-US" sz="2400" dirty="0" smtClean="0"/>
              <a:t>Combines evidence from multiple </a:t>
            </a:r>
            <a:r>
              <a:rPr lang="en-US" sz="2400" dirty="0" smtClean="0"/>
              <a:t>sources.</a:t>
            </a:r>
            <a:endParaRPr lang="en-US" sz="2400" dirty="0" smtClean="0"/>
          </a:p>
          <a:p>
            <a:r>
              <a:rPr lang="en-US" sz="2400" dirty="0" smtClean="0"/>
              <a:t>Works with belief </a:t>
            </a:r>
            <a:r>
              <a:rPr lang="en-US" sz="2400" dirty="0" smtClean="0"/>
              <a:t>functions.</a:t>
            </a:r>
            <a:endParaRPr lang="en-US" sz="2400" dirty="0" smtClean="0"/>
          </a:p>
          <a:p>
            <a:pPr lvl="1"/>
            <a:endParaRPr lang="en-US" dirty="0" smtClean="0"/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 smtClean="0"/>
          </a:p>
          <a:p>
            <a:r>
              <a:rPr lang="en-US" sz="2400" b="1" u="sng" dirty="0" smtClean="0"/>
              <a:t>4. Markov Models</a:t>
            </a:r>
          </a:p>
          <a:p>
            <a:r>
              <a:rPr lang="en-US" sz="2400" dirty="0" smtClean="0"/>
              <a:t>Used when current state depends on previous state</a:t>
            </a:r>
          </a:p>
          <a:p>
            <a:r>
              <a:rPr lang="en-US" sz="2400" dirty="0" smtClean="0"/>
              <a:t>Example: speech recognition, stock </a:t>
            </a:r>
            <a:r>
              <a:rPr lang="en-US" sz="2400" dirty="0" smtClean="0"/>
              <a:t>prediction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5. Possibility Theory</a:t>
            </a:r>
          </a:p>
          <a:p>
            <a:r>
              <a:rPr lang="en-US" sz="2400" dirty="0" smtClean="0"/>
              <a:t>Alternative to probability</a:t>
            </a:r>
          </a:p>
          <a:p>
            <a:r>
              <a:rPr lang="en-US" sz="2400" dirty="0" smtClean="0"/>
              <a:t>Used when probability data is </a:t>
            </a:r>
            <a:r>
              <a:rPr lang="en-US" sz="2400" dirty="0" smtClean="0"/>
              <a:t>incomplete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6. Non-monotonic Reasoning</a:t>
            </a:r>
          </a:p>
          <a:p>
            <a:r>
              <a:rPr lang="en-US" sz="2400" dirty="0" smtClean="0"/>
              <a:t>New information can invalidate previous conclusions</a:t>
            </a:r>
          </a:p>
          <a:p>
            <a:r>
              <a:rPr lang="en-US" sz="2400" dirty="0" smtClean="0"/>
              <a:t>Example:</a:t>
            </a:r>
          </a:p>
          <a:p>
            <a:pPr lvl="1"/>
            <a:r>
              <a:rPr lang="en-US" sz="2400" dirty="0" smtClean="0"/>
              <a:t>Normally birds fly</a:t>
            </a:r>
          </a:p>
          <a:p>
            <a:pPr lvl="1"/>
            <a:r>
              <a:rPr lang="en-US" sz="2400" dirty="0" smtClean="0"/>
              <a:t>New fact: “Penguin is a bird” → Update conclusion</a:t>
            </a:r>
          </a:p>
          <a:p>
            <a:pPr lvl="1"/>
            <a:endParaRPr lang="en-US" dirty="0" smtClean="0"/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/>
              <a:t>Examples of Uncertainty in KRR</a:t>
            </a:r>
            <a:endParaRPr lang="en-US" sz="2400" b="1" u="sng" dirty="0" smtClean="0"/>
          </a:p>
          <a:p>
            <a:endParaRPr lang="en-US" sz="2400" b="1" dirty="0" smtClean="0"/>
          </a:p>
          <a:p>
            <a:r>
              <a:rPr lang="en-US" sz="2400" b="1" u="sng" dirty="0" smtClean="0"/>
              <a:t>Example </a:t>
            </a:r>
            <a:r>
              <a:rPr lang="en-US" sz="2400" b="1" u="sng" dirty="0" smtClean="0"/>
              <a:t>1: Medical Diagnosis</a:t>
            </a:r>
          </a:p>
          <a:p>
            <a:r>
              <a:rPr lang="en-US" sz="2400" dirty="0" smtClean="0"/>
              <a:t>Symptoms → disease mapping is uncertain</a:t>
            </a:r>
          </a:p>
          <a:p>
            <a:r>
              <a:rPr lang="en-US" sz="2400" dirty="0" smtClean="0"/>
              <a:t>Fever + cough → Could be flu (0.6)</a:t>
            </a:r>
          </a:p>
          <a:p>
            <a:r>
              <a:rPr lang="en-US" sz="2400" dirty="0" smtClean="0"/>
              <a:t>Could be COVID (0.3)</a:t>
            </a:r>
          </a:p>
          <a:p>
            <a:r>
              <a:rPr lang="en-US" sz="2400" dirty="0" smtClean="0"/>
              <a:t>Could be allergy (0.1</a:t>
            </a:r>
            <a:r>
              <a:rPr lang="en-US" sz="2400" dirty="0" smtClean="0"/>
              <a:t>)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u="sng" dirty="0" smtClean="0"/>
              <a:t>Example 2: Weather Prediction</a:t>
            </a:r>
          </a:p>
          <a:p>
            <a:r>
              <a:rPr lang="en-US" sz="2400" dirty="0" smtClean="0"/>
              <a:t>Cloudy → high chance of rain</a:t>
            </a:r>
            <a:br>
              <a:rPr lang="en-US" sz="2400" dirty="0" smtClean="0"/>
            </a:br>
            <a:r>
              <a:rPr lang="en-US" sz="2400" dirty="0" smtClean="0"/>
              <a:t>But not guaranteed</a:t>
            </a:r>
          </a:p>
          <a:p>
            <a:pPr lvl="1"/>
            <a:endParaRPr lang="en-US" dirty="0" smtClean="0"/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 smtClean="0"/>
          </a:p>
          <a:p>
            <a:r>
              <a:rPr lang="en-US" sz="2400" b="1" u="sng" dirty="0" smtClean="0"/>
              <a:t>Example 3: Self-Driving Cars</a:t>
            </a:r>
          </a:p>
          <a:p>
            <a:r>
              <a:rPr lang="en-US" sz="2400" dirty="0" smtClean="0"/>
              <a:t>Car sees an object in fog</a:t>
            </a:r>
          </a:p>
          <a:p>
            <a:r>
              <a:rPr lang="en-US" sz="2400" dirty="0" smtClean="0"/>
              <a:t>80% pedestrian</a:t>
            </a:r>
          </a:p>
          <a:p>
            <a:r>
              <a:rPr lang="en-US" sz="2400" dirty="0" smtClean="0"/>
              <a:t>20% signboard</a:t>
            </a:r>
            <a:br>
              <a:rPr lang="en-US" sz="2400" dirty="0" smtClean="0"/>
            </a:br>
            <a:r>
              <a:rPr lang="en-US" sz="2400" dirty="0" smtClean="0"/>
              <a:t>Decision must consider uncertainty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u="sng" dirty="0" smtClean="0"/>
              <a:t>Example 4: Stock Market Forecasting</a:t>
            </a:r>
          </a:p>
          <a:p>
            <a:r>
              <a:rPr lang="en-US" sz="2400" dirty="0" smtClean="0"/>
              <a:t>Price may increase or decrease with certain probabilities</a:t>
            </a:r>
            <a:br>
              <a:rPr lang="en-US" sz="2400" dirty="0" smtClean="0"/>
            </a:br>
            <a:r>
              <a:rPr lang="en-US" sz="2400" dirty="0" smtClean="0"/>
              <a:t>No model gives certainty.</a:t>
            </a:r>
          </a:p>
          <a:p>
            <a:pPr lvl="1"/>
            <a:endParaRPr lang="en-US" dirty="0" smtClean="0"/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/>
              <a:t>Randomness in KRR</a:t>
            </a:r>
            <a:endParaRPr lang="en-US" sz="2400" b="1" u="sng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In </a:t>
            </a:r>
            <a:r>
              <a:rPr lang="en-US" sz="2400" dirty="0" smtClean="0"/>
              <a:t>KRR, Randomness refers to events or outcomes that occur without any predictable pattern and cannot be determined in advance, even if we have full knowledge of the current state.</a:t>
            </a:r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641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/>
              <a:t>Types of Randomness in KRR</a:t>
            </a:r>
            <a:endParaRPr lang="en-US" sz="2400" b="1" u="sng" dirty="0" smtClean="0"/>
          </a:p>
          <a:p>
            <a:endParaRPr lang="en-US" sz="2400" b="1" dirty="0" smtClean="0"/>
          </a:p>
          <a:p>
            <a:r>
              <a:rPr lang="en-US" sz="2400" b="1" u="sng" dirty="0" smtClean="0"/>
              <a:t>1</a:t>
            </a:r>
            <a:r>
              <a:rPr lang="en-US" sz="2400" b="1" u="sng" dirty="0" smtClean="0"/>
              <a:t>. Stochastic Events</a:t>
            </a:r>
          </a:p>
          <a:p>
            <a:r>
              <a:rPr lang="en-US" sz="2400" dirty="0" smtClean="0"/>
              <a:t>Events happen with specific probabilities.</a:t>
            </a:r>
          </a:p>
          <a:p>
            <a:r>
              <a:rPr lang="en-US" sz="2400" dirty="0" smtClean="0"/>
              <a:t>Example: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Rain tomorrow = 40%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Sunny = 60</a:t>
            </a:r>
            <a:r>
              <a:rPr lang="en-US" sz="2400" dirty="0" smtClean="0"/>
              <a:t>%</a:t>
            </a:r>
          </a:p>
          <a:p>
            <a:pPr lvl="1"/>
            <a:endParaRPr lang="en-US" sz="2400" dirty="0" smtClean="0"/>
          </a:p>
          <a:p>
            <a:r>
              <a:rPr lang="en-US" sz="2400" b="1" u="sng" dirty="0" smtClean="0"/>
              <a:t>2. Random Variables</a:t>
            </a:r>
          </a:p>
          <a:p>
            <a:r>
              <a:rPr lang="en-US" sz="2400" dirty="0" smtClean="0"/>
              <a:t>Represent outcomes like: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temperature fluctuation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stock returns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waiting times</a:t>
            </a:r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 smtClean="0"/>
          </a:p>
          <a:p>
            <a:r>
              <a:rPr lang="en-US" sz="2400" b="1" u="sng" dirty="0" smtClean="0"/>
              <a:t>3. Random Sensor Noise</a:t>
            </a:r>
          </a:p>
          <a:p>
            <a:r>
              <a:rPr lang="en-US" sz="2400" dirty="0" smtClean="0"/>
              <a:t>In robotics &amp; </a:t>
            </a:r>
            <a:r>
              <a:rPr lang="en-US" sz="2400" dirty="0" err="1" smtClean="0"/>
              <a:t>IoT</a:t>
            </a:r>
            <a:r>
              <a:rPr lang="en-US" sz="2400" dirty="0" smtClean="0"/>
              <a:t>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Distance sensor: 1.5m ± random noise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This noise cannot be predicted </a:t>
            </a:r>
            <a:r>
              <a:rPr lang="en-US" sz="2400" dirty="0" smtClean="0"/>
              <a:t>exactly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4. Random Actions or Outcomes</a:t>
            </a:r>
          </a:p>
          <a:p>
            <a:r>
              <a:rPr lang="en-US" sz="2400" dirty="0" smtClean="0"/>
              <a:t>Some actions have unpredictable results: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Medicine works for some patients but not others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Robot walking on sand → slips randomly</a:t>
            </a:r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678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/>
              <a:t>How KRR Handles Randomness</a:t>
            </a:r>
            <a:endParaRPr lang="en-US" sz="2400" b="1" u="sng" dirty="0" smtClean="0"/>
          </a:p>
          <a:p>
            <a:r>
              <a:rPr lang="en-US" sz="2400" dirty="0" smtClean="0"/>
              <a:t>KRR uses </a:t>
            </a:r>
            <a:r>
              <a:rPr lang="en-US" sz="2400" b="1" dirty="0" smtClean="0"/>
              <a:t>probabilistic models</a:t>
            </a:r>
            <a:r>
              <a:rPr lang="en-US" sz="2400" dirty="0" smtClean="0"/>
              <a:t> to represent randomness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1</a:t>
            </a:r>
            <a:r>
              <a:rPr lang="en-US" sz="2400" b="1" u="sng" dirty="0" smtClean="0"/>
              <a:t>. Probability Theory</a:t>
            </a:r>
          </a:p>
          <a:p>
            <a:r>
              <a:rPr lang="en-US" sz="2400" dirty="0" smtClean="0"/>
              <a:t>Mathematically models random behavior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2</a:t>
            </a:r>
            <a:r>
              <a:rPr lang="en-US" sz="2400" b="1" u="sng" dirty="0" smtClean="0"/>
              <a:t>. Bayesian Networks</a:t>
            </a:r>
          </a:p>
          <a:p>
            <a:r>
              <a:rPr lang="en-US" sz="2400" dirty="0" smtClean="0"/>
              <a:t>Used to represent random causes and effects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 </a:t>
            </a:r>
            <a:r>
              <a:rPr lang="en-US" sz="2400" b="1" u="sng" dirty="0" smtClean="0"/>
              <a:t>3. Markov Models</a:t>
            </a:r>
          </a:p>
          <a:p>
            <a:r>
              <a:rPr lang="en-US" sz="2400" dirty="0" smtClean="0"/>
              <a:t>Used when outcomes depend on previous state + randomness: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Markov Chains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Hidden Markov Models (HMMs)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Markov Decision Processes (MDPs)</a:t>
            </a:r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 smtClean="0"/>
          </a:p>
          <a:p>
            <a:r>
              <a:rPr lang="en-US" sz="2400" b="1" u="sng" dirty="0" smtClean="0"/>
              <a:t>4. </a:t>
            </a:r>
            <a:r>
              <a:rPr lang="en-US" sz="2400" b="1" u="sng" dirty="0" smtClean="0"/>
              <a:t>Probabilistic Planning</a:t>
            </a:r>
          </a:p>
          <a:p>
            <a:r>
              <a:rPr lang="en-US" sz="2400" dirty="0" smtClean="0"/>
              <a:t>In AI planning:</a:t>
            </a:r>
          </a:p>
          <a:p>
            <a:r>
              <a:rPr lang="en-US" sz="2400" dirty="0" smtClean="0"/>
              <a:t>Actions may not always succeed</a:t>
            </a:r>
          </a:p>
          <a:p>
            <a:r>
              <a:rPr lang="en-US" sz="2400" dirty="0" smtClean="0"/>
              <a:t>Example: “Pick up object” succeeds with 80</a:t>
            </a:r>
            <a:r>
              <a:rPr lang="en-US" sz="2400" dirty="0" smtClean="0"/>
              <a:t>%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5. </a:t>
            </a:r>
            <a:r>
              <a:rPr lang="en-US" sz="2400" b="1" u="sng" dirty="0" smtClean="0"/>
              <a:t>Randomized Algorithms</a:t>
            </a:r>
          </a:p>
          <a:p>
            <a:r>
              <a:rPr lang="en-US" sz="2400" dirty="0" smtClean="0"/>
              <a:t>Used in search and optimization: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Genetic algorithms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Random restarting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Monte-Carlo Tree Search</a:t>
            </a:r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7863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u="sng" dirty="0" smtClean="0"/>
              <a:t>Examples of Randomness in </a:t>
            </a:r>
            <a:r>
              <a:rPr lang="en-US" sz="3400" b="1" u="sng" dirty="0" smtClean="0"/>
              <a:t>KRR</a:t>
            </a:r>
          </a:p>
          <a:p>
            <a:r>
              <a:rPr lang="en-US" sz="2400" b="1" u="sng" dirty="0" smtClean="0"/>
              <a:t>Example 1: Self-driving Cars</a:t>
            </a:r>
          </a:p>
          <a:p>
            <a:r>
              <a:rPr lang="en-US" sz="2400" dirty="0" smtClean="0"/>
              <a:t>Pedestrian behavior is random: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Might cross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Might stop suddenly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Might change direction</a:t>
            </a:r>
          </a:p>
          <a:p>
            <a:r>
              <a:rPr lang="en-US" sz="2400" dirty="0" smtClean="0"/>
              <a:t>KRR uses probabilities to model this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Example 2: Weather Reasoning</a:t>
            </a:r>
          </a:p>
          <a:p>
            <a:r>
              <a:rPr lang="en-US" sz="2400" dirty="0" smtClean="0"/>
              <a:t>Even if we know all conditions: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Rainfall intensity varies randomly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Lightning occurs randomly</a:t>
            </a:r>
          </a:p>
          <a:p>
            <a:r>
              <a:rPr lang="en-US" sz="2400" dirty="0" smtClean="0"/>
              <a:t>Weather systems include stochastic models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Example 3: Medical Diagnosis</a:t>
            </a:r>
          </a:p>
          <a:p>
            <a:r>
              <a:rPr lang="en-US" sz="2400" dirty="0" smtClean="0"/>
              <a:t>Two patients with same symptoms may respond differently.</a:t>
            </a:r>
            <a:br>
              <a:rPr lang="en-US" sz="2400" dirty="0" smtClean="0"/>
            </a:br>
            <a:r>
              <a:rPr lang="en-US" sz="2400" dirty="0" smtClean="0"/>
              <a:t>Response to treatment is partly random</a:t>
            </a:r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Example 4: Coin Toss or Dice Roll</a:t>
            </a:r>
          </a:p>
          <a:p>
            <a:r>
              <a:rPr lang="en-US" sz="2400" dirty="0" smtClean="0"/>
              <a:t>Perfect example of randomness: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No reasoning system can predict exact outcome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Only probability distribution is </a:t>
            </a:r>
            <a:r>
              <a:rPr lang="en-US" sz="2400" dirty="0" smtClean="0"/>
              <a:t>known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Example 5: Trading / Stock Markets</a:t>
            </a:r>
          </a:p>
          <a:p>
            <a:r>
              <a:rPr lang="en-US" sz="2400" dirty="0" smtClean="0"/>
              <a:t>Price movement is influenced by: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Random news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Random trader actions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Random market reactions</a:t>
            </a:r>
          </a:p>
          <a:p>
            <a:endParaRPr lang="en-US" sz="21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3832</TotalTime>
  <Words>1121</Words>
  <Application>Microsoft Office PowerPoint</Application>
  <PresentationFormat>On-screen Show (4:3)</PresentationFormat>
  <Paragraphs>343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SHAHEED ZULFIKAR ALI BHUTTO INSTITUTE OF SCIENCE AND TECHNOLOGY UNIVERSITY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SHAHEED ZULFIKAR ALI BHUTTO INSTITUTE OF SCIENCE AND TECHNOLOGY UNIVERSITY </dc:title>
  <dc:creator>Bilal Ahmed</dc:creator>
  <cp:lastModifiedBy>Bilal Ahmed</cp:lastModifiedBy>
  <cp:revision>108</cp:revision>
  <dcterms:created xsi:type="dcterms:W3CDTF">2025-09-07T17:44:22Z</dcterms:created>
  <dcterms:modified xsi:type="dcterms:W3CDTF">2025-11-17T19:38:25Z</dcterms:modified>
</cp:coreProperties>
</file>