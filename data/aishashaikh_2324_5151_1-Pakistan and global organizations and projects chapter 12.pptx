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12206817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sz="4000" b="1">
                <a:latin typeface="Cambria" panose="02040503050406030204" charset="0"/>
                <a:cs typeface="Cambria" panose="02040503050406030204" charset="0"/>
              </a:rPr>
              <a:t>Pakistan and global organizations and projects 1) OIC 2) ASEAN 3) SAARC 4)European Union 5) CPEC</a:t>
            </a:r>
            <a:endParaRPr lang="en-US" sz="4000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30171" y="4822825"/>
            <a:ext cx="9218083" cy="1752600"/>
          </a:xfrm>
        </p:spPr>
        <p:txBody>
          <a:bodyPr/>
          <a:p>
            <a:r>
              <a:rPr lang="en-US" sz="2800">
                <a:solidFill>
                  <a:schemeClr val="bg1">
                    <a:lumMod val="65000"/>
                  </a:schemeClr>
                </a:solidFill>
                <a:latin typeface="Cambria" panose="02040503050406030204" charset="0"/>
                <a:cs typeface="Cambria" panose="02040503050406030204" charset="0"/>
              </a:rPr>
              <a:t>Aisha Shaikh</a:t>
            </a:r>
            <a:endParaRPr lang="en-US" sz="2800">
              <a:solidFill>
                <a:schemeClr val="bg1">
                  <a:lumMod val="65000"/>
                </a:schemeClr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sym typeface="+mn-ea"/>
              </a:rPr>
              <a:t>Introduction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800"/>
              <a:t>Pakistan plays an active role in global and regional organizations</a:t>
            </a:r>
            <a:endParaRPr lang="en-US" altLang="en-US" sz="2800"/>
          </a:p>
          <a:p>
            <a:r>
              <a:rPr lang="en-US" altLang="en-US" sz="2800"/>
              <a:t>These organizations promote:</a:t>
            </a:r>
            <a:endParaRPr lang="en-US" altLang="en-US" sz="2800"/>
          </a:p>
          <a:p>
            <a:r>
              <a:rPr lang="en-US" altLang="en-US" sz="2400"/>
              <a:t>Economic cooperation</a:t>
            </a:r>
            <a:endParaRPr lang="en-US" altLang="en-US" sz="2400"/>
          </a:p>
          <a:p>
            <a:r>
              <a:rPr lang="en-US" altLang="en-US" sz="2400"/>
              <a:t>Political stability</a:t>
            </a:r>
            <a:endParaRPr lang="en-US" altLang="en-US" sz="2400"/>
          </a:p>
          <a:p>
            <a:r>
              <a:rPr lang="en-US" altLang="en-US" sz="2400"/>
              <a:t>Cultural exchange</a:t>
            </a:r>
            <a:endParaRPr lang="en-US" altLang="en-US" sz="2400"/>
          </a:p>
          <a:p>
            <a:r>
              <a:rPr lang="en-US" altLang="en-US" sz="2800"/>
              <a:t>Focus on 5 major platforms:</a:t>
            </a:r>
            <a:endParaRPr lang="en-US" altLang="en-US" sz="2800"/>
          </a:p>
          <a:p>
            <a:r>
              <a:rPr lang="en-US" altLang="en-US" sz="2400"/>
              <a:t>Organization of Islamic Cooperation </a:t>
            </a:r>
            <a:r>
              <a:rPr lang="en-US" altLang="en-US" sz="2400" b="1"/>
              <a:t>OIC</a:t>
            </a:r>
            <a:endParaRPr lang="en-US" altLang="en-US" sz="2400" b="1"/>
          </a:p>
          <a:p>
            <a:r>
              <a:rPr lang="en-US" altLang="en-US" sz="2400"/>
              <a:t>Association of Southeast Asian Nations </a:t>
            </a:r>
            <a:r>
              <a:rPr lang="en-US" altLang="en-US" sz="2400" b="1"/>
              <a:t>ASEAN</a:t>
            </a:r>
            <a:endParaRPr lang="en-US" altLang="en-US" sz="2400" b="1"/>
          </a:p>
          <a:p>
            <a:r>
              <a:rPr lang="en-US" altLang="en-US" sz="2400"/>
              <a:t>South Asian Association for Regional Cooperation </a:t>
            </a:r>
            <a:r>
              <a:rPr lang="en-US" altLang="en-US" sz="2400" b="1"/>
              <a:t>SAARC</a:t>
            </a:r>
            <a:endParaRPr lang="en-US" altLang="en-US" sz="2400" b="1"/>
          </a:p>
          <a:p>
            <a:r>
              <a:rPr lang="en-US" altLang="en-US" sz="2400"/>
              <a:t>European Union </a:t>
            </a:r>
            <a:r>
              <a:rPr lang="en-US" altLang="en-US" sz="2400" b="1"/>
              <a:t>EU</a:t>
            </a:r>
            <a:endParaRPr lang="en-US" altLang="en-US" sz="2400" b="1"/>
          </a:p>
          <a:p>
            <a:r>
              <a:rPr lang="en-US" altLang="en-US" sz="2400"/>
              <a:t>China-Pakistan Economic Corridor </a:t>
            </a:r>
            <a:r>
              <a:rPr lang="en-US" altLang="en-US" sz="2400" b="1"/>
              <a:t>CPEC</a:t>
            </a:r>
            <a:endParaRPr lang="en-US" altLang="en-US" sz="24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sym typeface="+mn-ea"/>
              </a:rPr>
              <a:t>OIC 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95" y="1176020"/>
            <a:ext cx="11567795" cy="5773420"/>
          </a:xfrm>
        </p:spPr>
        <p:txBody>
          <a:bodyPr/>
          <a:p>
            <a:r>
              <a:rPr lang="en-US" altLang="en-US" sz="2800" b="1"/>
              <a:t>Identity: </a:t>
            </a:r>
            <a:r>
              <a:rPr lang="en-US" altLang="en-US" sz="2800"/>
              <a:t>The second-largest intergovernmental organization after the UN, comprising 57 member states across four continents.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 b="1"/>
              <a:t>Foundation (1969): </a:t>
            </a:r>
            <a:r>
              <a:rPr lang="en-US" altLang="en-US" sz="2800"/>
              <a:t>Established following the historic summit in </a:t>
            </a:r>
            <a:r>
              <a:rPr lang="en-US" altLang="en-US" sz="2800" b="1"/>
              <a:t>Rabat, Morocco</a:t>
            </a:r>
            <a:r>
              <a:rPr lang="en-US" altLang="en-US" sz="2800"/>
              <a:t>, triggered by the arson attack on the Al-Aqsa Mosque in Jerusalem.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 b="1"/>
              <a:t>Core Mission:  </a:t>
            </a:r>
            <a:r>
              <a:rPr lang="en-US" altLang="en-US" sz="2800"/>
              <a:t>To safeguard and protect the interests of the Muslim world.</a:t>
            </a:r>
            <a:endParaRPr lang="en-US" altLang="en-US" sz="2800"/>
          </a:p>
          <a:p>
            <a:endParaRPr lang="en-US" altLang="en-US" sz="2800"/>
          </a:p>
          <a:p>
            <a:endParaRPr lang="en-US" altLang="en-US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continue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ym typeface="+mn-ea"/>
              </a:rPr>
              <a:t>To promote international peace, harmony, and "Islamic solidarity" among member states.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>
                <a:sym typeface="+mn-ea"/>
              </a:rPr>
              <a:t>Key 2026 Focus: </a:t>
            </a:r>
            <a:r>
              <a:rPr lang="en-US" altLang="en-US">
                <a:sym typeface="+mn-ea"/>
              </a:rPr>
              <a:t>Intense diplomatic efforts regarding the sovereignty of Palestine and addressing regional stability in the Horn of Africa (Somalia).</a:t>
            </a:r>
            <a:endParaRPr lang="en-US" altLang="en-US"/>
          </a:p>
          <a:p>
            <a:endParaRPr lang="en-US" altLang="en-US" b="1"/>
          </a:p>
          <a:p>
            <a:r>
              <a:rPr lang="en-US" altLang="en-US" b="1">
                <a:sym typeface="+mn-ea"/>
              </a:rPr>
              <a:t>Headquarters: Jeddah, Kingdom of Saudi Arabia.</a:t>
            </a:r>
            <a:endParaRPr lang="en-US" altLang="en-US" b="1"/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Pakistan and the OIC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235" y="1070610"/>
            <a:ext cx="11732895" cy="4953000"/>
          </a:xfrm>
        </p:spPr>
        <p:txBody>
          <a:bodyPr/>
          <a:p>
            <a:r>
              <a:rPr lang="en-US" altLang="en-US" sz="2400" b="1"/>
              <a:t>Founding Member: </a:t>
            </a:r>
            <a:r>
              <a:rPr lang="en-US" altLang="en-US" sz="2400"/>
              <a:t>Pakistan helped start the OIC in 1969 to unite Muslim countries.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 b="1"/>
              <a:t>Strong Voice: </a:t>
            </a:r>
            <a:r>
              <a:rPr lang="en-US" altLang="en-US" sz="2400"/>
              <a:t>Pakistan uses the OIC to speak up for the rights of people in Kashmir and Palestine.</a:t>
            </a:r>
            <a:endParaRPr lang="en-US" altLang="en-US" sz="2400"/>
          </a:p>
          <a:p>
            <a:endParaRPr lang="en-US" altLang="en-US" sz="2400" b="1"/>
          </a:p>
          <a:p>
            <a:r>
              <a:rPr lang="en-US" altLang="en-US" sz="2400" b="1"/>
              <a:t>Science Leader: </a:t>
            </a:r>
            <a:r>
              <a:rPr lang="en-US" altLang="en-US" sz="2400"/>
              <a:t>Pakistan is the permanent home of COMSTECH, the OIC's main office for science and technology.</a:t>
            </a:r>
            <a:endParaRPr lang="en-US" altLang="en-US" sz="2400"/>
          </a:p>
          <a:p>
            <a:endParaRPr lang="en-US" altLang="en-US" sz="2400" b="1"/>
          </a:p>
          <a:p>
            <a:r>
              <a:rPr lang="en-US" altLang="en-US" sz="2400" b="1"/>
              <a:t>Helping Others: </a:t>
            </a:r>
            <a:r>
              <a:rPr lang="en-US" altLang="en-US" sz="2400"/>
              <a:t>Pakistan often hosts big meetings (Summits) to solve problems like peace, education, and poverty.</a:t>
            </a:r>
            <a:endParaRPr lang="en-US" altLang="en-US" sz="2400"/>
          </a:p>
          <a:p>
            <a:endParaRPr lang="en-US" altLang="en-US" sz="2400" b="1"/>
          </a:p>
          <a:p>
            <a:r>
              <a:rPr lang="en-US" altLang="en-US" sz="2400" b="1"/>
              <a:t>Big Success: </a:t>
            </a:r>
            <a:r>
              <a:rPr lang="en-US" altLang="en-US" sz="2400"/>
              <a:t>Led the OIC to make March 15 a global day to fight Islamophobia.</a:t>
            </a:r>
            <a:endParaRPr lang="en-US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ASEAN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b="1"/>
              <a:t>What is ASEAN?</a:t>
            </a:r>
            <a:r>
              <a:rPr lang="en-US" altLang="en-US"/>
              <a:t> A regional group of 11 member states in Southeast Asia focused on economic growth, social progress, and regional peace.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The 11th Member: Timor-Leste</a:t>
            </a:r>
            <a:r>
              <a:rPr lang="en-US" altLang="en-US"/>
              <a:t> officially joined in 2025, marking the first expansion of the bloc in over two decades.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2026 Chairmanship:</a:t>
            </a:r>
            <a:r>
              <a:rPr lang="en-US" altLang="en-US"/>
              <a:t> The Philippines holds the chair for 2026.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continue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b="1"/>
              <a:t>Key 2026 Priorities:</a:t>
            </a:r>
            <a:endParaRPr lang="en-US" altLang="en-US" b="1"/>
          </a:p>
          <a:p>
            <a:endParaRPr lang="en-US" altLang="en-US"/>
          </a:p>
          <a:p>
            <a:r>
              <a:rPr lang="en-US" altLang="en-US" sz="2800" b="1"/>
              <a:t>Maritime Security:</a:t>
            </a:r>
            <a:r>
              <a:rPr lang="en-US" altLang="en-US" sz="2800"/>
              <a:t> Finalizing a "Code of Conduct" for the South China Sea.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 b="1"/>
              <a:t>Digital Economy: </a:t>
            </a:r>
            <a:r>
              <a:rPr lang="en-US" altLang="en-US" sz="2800"/>
              <a:t>Launching the ASEAN Digital Economy Framework Agreement (DEFA) to create a unified $2 trillion digital market.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 b="1"/>
              <a:t>Vision 2045</a:t>
            </a:r>
            <a:r>
              <a:rPr lang="en-US" altLang="en-US" sz="2800"/>
              <a:t>: Implementation of the new long-term plan for a "resilient and people-centered" region.</a:t>
            </a:r>
            <a:endParaRPr lang="en-US" altLang="en-US"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Pakistan &amp; ASEAN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Pakistan is not a member, but a dialogue partner.</a:t>
            </a:r>
            <a:endParaRPr lang="en-US" altLang="en-US"/>
          </a:p>
          <a:p>
            <a:r>
              <a:rPr lang="en-US" altLang="en-US" b="1"/>
              <a:t>Cooperation areas:</a:t>
            </a:r>
            <a:endParaRPr lang="en-US" altLang="en-US" b="1"/>
          </a:p>
          <a:p>
            <a:r>
              <a:rPr lang="en-US" altLang="en-US"/>
              <a:t>Trade</a:t>
            </a:r>
            <a:endParaRPr lang="en-US" altLang="en-US"/>
          </a:p>
          <a:p>
            <a:r>
              <a:rPr lang="en-US" altLang="en-US"/>
              <a:t>Investment</a:t>
            </a:r>
            <a:endParaRPr lang="en-US" altLang="en-US"/>
          </a:p>
          <a:p>
            <a:r>
              <a:rPr lang="en-US" altLang="en-US"/>
              <a:t>Regional connectivity</a:t>
            </a:r>
            <a:endParaRPr lang="en-US" altLang="en-US"/>
          </a:p>
          <a:p>
            <a:r>
              <a:rPr lang="en-US" altLang="en-US" b="1"/>
              <a:t>Importance</a:t>
            </a:r>
            <a:r>
              <a:rPr lang="en-US" altLang="en-US"/>
              <a:t>:</a:t>
            </a:r>
            <a:endParaRPr lang="en-US" altLang="en-US"/>
          </a:p>
          <a:p>
            <a:r>
              <a:rPr lang="en-US" altLang="en-US"/>
              <a:t>Access to Southeast Asian markets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SAARC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b="1"/>
              <a:t>What is SAARC? </a:t>
            </a:r>
            <a:r>
              <a:rPr lang="en-US"/>
              <a:t>SAARC stands for South Asian Association for Regional Cooperation. It was formed on </a:t>
            </a:r>
            <a:r>
              <a:rPr lang="en-US" b="1"/>
              <a:t>December 8th, 1985, in Dhaka, Bangladesh</a:t>
            </a:r>
            <a:r>
              <a:rPr lang="en-US"/>
              <a:t> with a strong emphasis on p</a:t>
            </a:r>
            <a:r>
              <a:rPr lang="en-US" altLang="en-US"/>
              <a:t>romoting regional welfare and integrity.</a:t>
            </a:r>
            <a:endParaRPr lang="en-US" altLang="en-US"/>
          </a:p>
          <a:p>
            <a:r>
              <a:rPr lang="en-US" altLang="en-US" b="1"/>
              <a:t>8 Member States </a:t>
            </a:r>
            <a:r>
              <a:rPr lang="en-US" altLang="en-US"/>
              <a:t>including Pakistan, Bangladesh, Bhutan, Nepal, Maldives, Sri Lanka, Afghanistan and India.</a:t>
            </a:r>
            <a:endParaRPr lang="en-US" altLang="en-US"/>
          </a:p>
          <a:p>
            <a:r>
              <a:rPr lang="en-US" altLang="en-US" b="1"/>
              <a:t>Secretariat</a:t>
            </a:r>
            <a:r>
              <a:rPr lang="en-US" altLang="en-US"/>
              <a:t>: Headquartered in</a:t>
            </a:r>
            <a:r>
              <a:rPr lang="en-US" altLang="en-US" b="1"/>
              <a:t> Kathmandu, Nepal, </a:t>
            </a:r>
            <a:r>
              <a:rPr lang="en-US" altLang="en-US"/>
              <a:t>serving as the executive node for regional cooperation.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SAARC &amp; Pakistan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b="1"/>
              <a:t>Founding Member: </a:t>
            </a:r>
            <a:r>
              <a:rPr lang="en-US" altLang="en-US"/>
              <a:t>A lead player in South Asia since 1985.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Legal Hub</a:t>
            </a:r>
            <a:r>
              <a:rPr lang="en-US" altLang="en-US"/>
              <a:t>: Permanent host of the SAARC Arbitration Council in Islamabad.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Focus Areas: </a:t>
            </a:r>
            <a:r>
              <a:rPr lang="en-US" altLang="en-US"/>
              <a:t>Actively works on poverty, health, and climate through SAARC committees.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European Union (EU)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800" b="1"/>
              <a:t>Definition:</a:t>
            </a:r>
            <a:r>
              <a:rPr lang="en-US" altLang="en-US" sz="2800"/>
              <a:t> A unique political and economic union of 27 member states located primarily in Europe.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 b="1"/>
              <a:t>The Single Market:</a:t>
            </a:r>
            <a:r>
              <a:rPr lang="en-US" altLang="en-US" sz="2800"/>
              <a:t> Allows the free movement of goods, services, money, and people (the "Four Freedoms") as if the EU were a single country.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 b="1"/>
              <a:t>The Euro (€):</a:t>
            </a:r>
            <a:r>
              <a:rPr lang="en-US" altLang="en-US" sz="2800"/>
              <a:t> The official currency of 20 members (the Eurozone), managed by the European Central Bank</a:t>
            </a:r>
            <a:endParaRPr lang="en-US" altLang="en-US" sz="2800"/>
          </a:p>
          <a:p>
            <a:pPr marL="0" indent="0">
              <a:buNone/>
            </a:pPr>
            <a:r>
              <a:rPr lang="en-US" altLang="en-US" sz="2800"/>
              <a:t>.</a:t>
            </a:r>
            <a:endParaRPr lang="en-US" altLang="en-US" sz="2800"/>
          </a:p>
          <a:p>
            <a:r>
              <a:rPr lang="en-US" altLang="en-US" sz="2800" b="1"/>
              <a:t>Headquarters:</a:t>
            </a:r>
            <a:r>
              <a:rPr lang="en-US" altLang="en-US" sz="2800"/>
              <a:t> Brussels, Belgium.</a:t>
            </a:r>
            <a:endParaRPr lang="en-US" altLang="en-US"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Pakistan &amp; The European Union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b="1"/>
              <a:t>Trade Partner:</a:t>
            </a:r>
            <a:r>
              <a:rPr lang="en-US" altLang="en-US"/>
              <a:t> The EU is Pakistan’s largest export destination, critical for the textile and garment industry.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GSP+ Benefits:</a:t>
            </a:r>
            <a:r>
              <a:rPr lang="en-US" altLang="en-US"/>
              <a:t> Pakistan enjoys zero duties on most exports, a program currently being reviewed for extension in 2026.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Strategic Plan:</a:t>
            </a:r>
            <a:r>
              <a:rPr lang="en-US" altLang="en-US"/>
              <a:t> Cooperation is guided by the Strategic Engagement Plan, focusing on security, energy, and migration.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continue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b="1"/>
              <a:t>Key Conditions: </a:t>
            </a:r>
            <a:r>
              <a:rPr lang="en-US" altLang="en-US"/>
              <a:t>EU support is tied to Pakistan’s progress on human rights, labor laws, and climate standards.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Development: </a:t>
            </a:r>
            <a:r>
              <a:rPr lang="en-US" altLang="en-US"/>
              <a:t>The EU provides major funding for education and green energy projects across Pakistan.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CPEC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b="1"/>
              <a:t>The Backbone of Pakistan’s Infrastructure</a:t>
            </a:r>
            <a:endParaRPr lang="en-US" altLang="en-US" b="1"/>
          </a:p>
          <a:p>
            <a:pPr marL="0" indent="0">
              <a:buNone/>
            </a:pPr>
            <a:endParaRPr lang="en-US" altLang="en-US" b="1"/>
          </a:p>
          <a:p>
            <a:r>
              <a:rPr lang="en-US" altLang="en-US" b="1"/>
              <a:t>Definition: </a:t>
            </a:r>
            <a:r>
              <a:rPr lang="en-US" altLang="en-US"/>
              <a:t>A multi-billion dollar flagship project of </a:t>
            </a:r>
            <a:r>
              <a:rPr lang="en-US" altLang="en-US" b="1"/>
              <a:t>China’s Belt and Road Initiative (BRI)</a:t>
            </a:r>
            <a:r>
              <a:rPr lang="en-US" altLang="en-US"/>
              <a:t>, connecting Gwadar Port to China’s Xinjiang region.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Energy Revolution: By 2026</a:t>
            </a:r>
            <a:r>
              <a:rPr lang="en-US" altLang="en-US"/>
              <a:t>, CPEC projects have added over </a:t>
            </a:r>
            <a:r>
              <a:rPr lang="en-US" altLang="en-US" b="1"/>
              <a:t>13,000 MW </a:t>
            </a:r>
            <a:r>
              <a:rPr lang="en-US" altLang="en-US"/>
              <a:t>to the national grid through a mix of coal, solar, wind, and hydel power.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CPEC key projects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b="1"/>
              <a:t>Infrastructure</a:t>
            </a:r>
            <a:r>
              <a:rPr lang="en-US" altLang="en-US"/>
              <a:t>: Includes a 3,000 km network of modern motorways (like the</a:t>
            </a:r>
            <a:r>
              <a:rPr lang="en-US" altLang="en-US" b="1"/>
              <a:t> M-4 and Hazara Motorway</a:t>
            </a:r>
            <a:r>
              <a:rPr lang="en-US" altLang="en-US"/>
              <a:t>) and the modernization of the </a:t>
            </a:r>
            <a:r>
              <a:rPr lang="en-US" altLang="en-US" b="1"/>
              <a:t>ML-1 Railway.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Gwadar Development: </a:t>
            </a:r>
            <a:r>
              <a:rPr lang="en-US" altLang="en-US"/>
              <a:t>The new </a:t>
            </a:r>
            <a:r>
              <a:rPr lang="en-US" altLang="en-US" b="1"/>
              <a:t>Gwadar International Airport </a:t>
            </a:r>
            <a:r>
              <a:rPr lang="en-US" altLang="en-US"/>
              <a:t>(operational in 2025-26) and the East Bay Expressway have turned the city into a functional maritime hub.</a:t>
            </a:r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Strategic Importance of CPEC for Pakistan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472430"/>
          </a:xfrm>
        </p:spPr>
        <p:txBody>
          <a:bodyPr/>
          <a:p>
            <a:r>
              <a:rPr lang="en-US" altLang="en-US" sz="2800" b="1"/>
              <a:t>Economic Transformation:</a:t>
            </a:r>
            <a:r>
              <a:rPr lang="en-US" altLang="en-US" sz="2800"/>
              <a:t> Acts as a "Game Changer" by attracting billions in </a:t>
            </a:r>
            <a:r>
              <a:rPr lang="en-US" altLang="en-US" sz="2800" b="1"/>
              <a:t>Foreign Direct Investment (FDI) </a:t>
            </a:r>
            <a:r>
              <a:rPr lang="en-US" altLang="en-US" sz="2800"/>
              <a:t>and creating over 200,000 local jobs.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 b="1"/>
              <a:t>Energy Security:</a:t>
            </a:r>
            <a:r>
              <a:rPr lang="en-US" altLang="en-US" sz="2800"/>
              <a:t> Solved chronic power shortages by adding over </a:t>
            </a:r>
            <a:r>
              <a:rPr lang="en-US" altLang="en-US" sz="2800" b="1"/>
              <a:t>13,000 MW</a:t>
            </a:r>
            <a:r>
              <a:rPr lang="en-US" altLang="en-US" sz="2800"/>
              <a:t> to the national grid, powering industries and homes.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 b="1"/>
              <a:t>Modern Infrastructure</a:t>
            </a:r>
            <a:r>
              <a:rPr lang="en-US" altLang="en-US" sz="2800"/>
              <a:t>: Created a high-speed network of motorways and is modernizing the ML-1 Railway, cutting transport costs and times.</a:t>
            </a:r>
            <a:endParaRPr lang="en-US" altLang="en-US"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continue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b="1"/>
              <a:t>Gwadar as a Trade Hub:</a:t>
            </a:r>
            <a:r>
              <a:rPr lang="en-US" altLang="en-US"/>
              <a:t> Turns Pakistan into a maritime gateway, allowing Central Asia and China to trade through Pakistani ports.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Industrial Growth:</a:t>
            </a:r>
            <a:r>
              <a:rPr lang="en-US" altLang="en-US"/>
              <a:t> Shifts the economy from imports to exports through </a:t>
            </a:r>
            <a:r>
              <a:rPr lang="en-US" altLang="en-US" b="1"/>
              <a:t>Special Economic Zones (SEZs) </a:t>
            </a:r>
            <a:r>
              <a:rPr lang="en-US" altLang="en-US"/>
              <a:t>and high-tech agricultural farming.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5426</Words>
  <Application>WPS Presentation</Application>
  <PresentationFormat>Widescreen</PresentationFormat>
  <Paragraphs>143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Algerian</vt:lpstr>
      <vt:lpstr>Bell MT</vt:lpstr>
      <vt:lpstr>Cambria</vt:lpstr>
      <vt:lpstr>Arial Rounded MT Bold</vt:lpstr>
      <vt:lpstr>Bodoni MT</vt:lpstr>
      <vt:lpstr>Communications and Dialogues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ayesh</dc:creator>
  <cp:lastModifiedBy>ayesh</cp:lastModifiedBy>
  <cp:revision>3</cp:revision>
  <dcterms:created xsi:type="dcterms:W3CDTF">2025-07-23T00:59:00Z</dcterms:created>
  <dcterms:modified xsi:type="dcterms:W3CDTF">2026-04-17T16:59:33Z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E6023598A4124D79958847823CA2AF5C_11</vt:lpwstr>
  </property>
  <property fmtid="{D5CDD505-2E9C-101B-9397-08002B2CF9AE}" pid="3" name="KSOProductBuildVer">
    <vt:lpwstr>1033-12.2.0.23196</vt:lpwstr>
  </property>
</Properties>
</file>