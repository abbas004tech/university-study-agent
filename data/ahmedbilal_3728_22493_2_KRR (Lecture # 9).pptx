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19F9A-D827-4B7E-80FC-2E2C5FC403EF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AB0C6-38D1-42CC-BF2B-380F6672281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7AB0C6-38D1-42CC-BF2B-380F6672281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7ACAF-6C10-4694-AC2C-FB914C9C3B7A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C31B3-D7E6-4389-97F0-BB8E661E2907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E7986-2853-4877-AC3D-EE45EE8927D2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845-D97B-454C-B93D-F40E80586FB3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38867-BF55-4E15-A428-B240573B4974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EF82C-E6E6-4FFB-80D5-3B1F7F3B4FDD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67447-9A66-4257-BEA6-754A9B33212C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6744-552E-4D23-AACD-A6AB5A1506E0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1AAB-AD71-4976-ACDF-48E80A8913F6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DC92-138B-41DA-A8F6-5C75FDD9171A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9186A-BC4A-48C1-A9F7-F7B66CCDB0B3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0FEAA-D5B6-4B95-A6F5-FAD45368BDAF}" type="datetime1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96511-3A4C-4867-AB14-6836CE826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cid:image002.jpg@01D9CAE1.6DC06D00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609600"/>
            <a:ext cx="7772400" cy="1470025"/>
          </a:xfrm>
        </p:spPr>
        <p:txBody>
          <a:bodyPr anchor="t">
            <a:normAutofit/>
          </a:bodyPr>
          <a:lstStyle/>
          <a:p>
            <a:pPr algn="r"/>
            <a:r>
              <a:rPr lang="en-US" sz="2000" dirty="0"/>
              <a:t>SHAHEED ZULFIKAR ALI BHUTTO INSTITUTE OF</a:t>
            </a:r>
            <a:br>
              <a:rPr lang="en-US" sz="2000" dirty="0"/>
            </a:br>
            <a:r>
              <a:rPr lang="en-US" sz="2000" dirty="0"/>
              <a:t>SCIENCE AND TECHNOLOGY UNIVERSITY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14600"/>
            <a:ext cx="6400800" cy="1752600"/>
          </a:xfrm>
        </p:spPr>
        <p:txBody>
          <a:bodyPr anchor="ctr"/>
          <a:lstStyle/>
          <a:p>
            <a:r>
              <a:rPr lang="en-US" dirty="0"/>
              <a:t>Knowledge Representation and Reasoning (KRR</a:t>
            </a:r>
            <a:r>
              <a:rPr lang="en-US" dirty="0" smtClean="0"/>
              <a:t>)</a:t>
            </a:r>
          </a:p>
          <a:p>
            <a:r>
              <a:rPr lang="en-US" sz="2400" dirty="0" smtClean="0"/>
              <a:t>(Course Code: AIC 3502)</a:t>
            </a:r>
            <a:endParaRPr lang="en-US" sz="2400" dirty="0"/>
          </a:p>
        </p:txBody>
      </p:sp>
      <p:pic>
        <p:nvPicPr>
          <p:cNvPr id="4" name="Picture 3" descr="https://szabist.edu.pk/wp-content/uploads/2023/08/thumbnail_PHOTO-2023-08-07-13-44-35.jpg"/>
          <p:cNvPicPr/>
          <p:nvPr/>
        </p:nvPicPr>
        <p:blipFill>
          <a:blip r:embed="rId3" r:link="rId4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cx="http://schemas.microsoft.com/office/drawing/2014/chartex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27908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3429000" y="5486400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u="sng" dirty="0" smtClean="0"/>
              <a:t>Prepared By</a:t>
            </a:r>
          </a:p>
          <a:p>
            <a:pPr algn="r"/>
            <a:r>
              <a:rPr lang="en-US" dirty="0" err="1" smtClean="0"/>
              <a:t>Bilal</a:t>
            </a:r>
            <a:r>
              <a:rPr lang="en-US" dirty="0" smtClean="0"/>
              <a:t> Ahmed</a:t>
            </a:r>
          </a:p>
          <a:p>
            <a:pPr algn="r"/>
            <a:r>
              <a:rPr lang="en-US" dirty="0" smtClean="0"/>
              <a:t>Lecturer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464820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/>
              <a:t>Lecture # 9</a:t>
            </a:r>
            <a:endParaRPr lang="en-US" sz="2400" b="1" u="sn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/>
              <a:t>Reasoning About Actions</a:t>
            </a:r>
          </a:p>
          <a:p>
            <a:pPr algn="ctr"/>
            <a:endParaRPr lang="en-US" sz="3600" b="1" u="sng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/>
              <a:t>Reasoning about actions is the process of using logic to understand, predict, and plan the effects of actions performed in the world.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/>
              <a:t>It allows an intelligent system (like a robot or AI agent) to determine what will happen if it performs a particular action — and what actions are required to achieve a desired goal.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/>
              <a:t>Core Idea:</a:t>
            </a:r>
          </a:p>
          <a:p>
            <a:pPr algn="ctr"/>
            <a:endParaRPr lang="en-US" sz="3600" b="1" u="sng" dirty="0" smtClean="0"/>
          </a:p>
          <a:p>
            <a:pPr algn="just"/>
            <a:r>
              <a:rPr lang="en-US" sz="2400" dirty="0" smtClean="0"/>
              <a:t>The world is modeled as a set of </a:t>
            </a:r>
            <a:r>
              <a:rPr lang="en-US" sz="2400" b="1" dirty="0" smtClean="0"/>
              <a:t>states</a:t>
            </a:r>
            <a:r>
              <a:rPr lang="en-US" sz="2400" dirty="0" smtClean="0"/>
              <a:t> (situations) and </a:t>
            </a:r>
            <a:r>
              <a:rPr lang="en-US" sz="2400" b="1" dirty="0" smtClean="0"/>
              <a:t>actions</a:t>
            </a:r>
            <a:r>
              <a:rPr lang="en-US" sz="2400" dirty="0" smtClean="0"/>
              <a:t> that cause transitions between those states.</a:t>
            </a:r>
            <a:br>
              <a:rPr lang="en-US" sz="2400" dirty="0" smtClean="0"/>
            </a:br>
            <a:r>
              <a:rPr lang="en-US" sz="2400" dirty="0" smtClean="0"/>
              <a:t>Each action has:</a:t>
            </a:r>
          </a:p>
          <a:p>
            <a:endParaRPr lang="en-US" sz="2400" dirty="0" smtClean="0"/>
          </a:p>
          <a:p>
            <a:r>
              <a:rPr lang="en-US" sz="2400" b="1" dirty="0" smtClean="0"/>
              <a:t>Preconditions</a:t>
            </a:r>
            <a:r>
              <a:rPr lang="en-US" sz="2400" dirty="0" smtClean="0"/>
              <a:t> → What must be true before the action can occur.</a:t>
            </a:r>
          </a:p>
          <a:p>
            <a:endParaRPr lang="en-US" sz="2400" dirty="0" smtClean="0"/>
          </a:p>
          <a:p>
            <a:r>
              <a:rPr lang="en-US" sz="2400" b="1" dirty="0" smtClean="0"/>
              <a:t>Effects</a:t>
            </a:r>
            <a:r>
              <a:rPr lang="en-US" sz="2400" dirty="0" smtClean="0"/>
              <a:t> → What becomes true (or false) after the action occurs.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 smtClean="0"/>
              <a:t>Basic Structure of Reasoning About Actions:</a:t>
            </a:r>
          </a:p>
          <a:p>
            <a:endParaRPr lang="en-US" sz="2400" dirty="0" smtClean="0"/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397000"/>
          <a:ext cx="7848600" cy="371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300"/>
                <a:gridCol w="3924300"/>
              </a:tblGrid>
              <a:tr h="4731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Element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796900">
                <a:tc>
                  <a:txBody>
                    <a:bodyPr/>
                    <a:lstStyle/>
                    <a:p>
                      <a:r>
                        <a:rPr lang="en-US" dirty="0" smtClean="0"/>
                        <a:t>State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Describes what is true at a given time (e.g., “door is closed”).</a:t>
                      </a:r>
                      <a:endParaRPr lang="en-US" dirty="0"/>
                    </a:p>
                  </a:txBody>
                  <a:tcPr/>
                </a:tc>
              </a:tr>
              <a:tr h="816584">
                <a:tc>
                  <a:txBody>
                    <a:bodyPr/>
                    <a:lstStyle/>
                    <a:p>
                      <a:r>
                        <a:rPr lang="en-US" dirty="0" smtClean="0"/>
                        <a:t>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Something that can change the state (e.g., “open door”).</a:t>
                      </a:r>
                      <a:endParaRPr lang="en-US" dirty="0"/>
                    </a:p>
                  </a:txBody>
                  <a:tcPr/>
                </a:tc>
              </a:tr>
              <a:tr h="816584">
                <a:tc>
                  <a:txBody>
                    <a:bodyPr/>
                    <a:lstStyle/>
                    <a:p>
                      <a:r>
                        <a:rPr lang="en-US" dirty="0" smtClean="0"/>
                        <a:t>Precondition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Conditions that must be true before action is executed.</a:t>
                      </a:r>
                      <a:endParaRPr lang="en-US" dirty="0"/>
                    </a:p>
                  </a:txBody>
                  <a:tcPr/>
                </a:tc>
              </a:tr>
              <a:tr h="816584">
                <a:tc>
                  <a:txBody>
                    <a:bodyPr/>
                    <a:lstStyle/>
                    <a:p>
                      <a:r>
                        <a:rPr lang="en-US" dirty="0" smtClean="0"/>
                        <a:t>Effect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result or outcome of the action.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 smtClean="0"/>
              <a:t>Example 1: Smart Home System: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Scenario: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 smart home system controls lights based on user actions.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2514600"/>
          <a:ext cx="7848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00"/>
                <a:gridCol w="2616200"/>
                <a:gridCol w="261620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Action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Precondition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Effect</a:t>
                      </a:r>
                      <a:endParaRPr lang="en-US" sz="2400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TurnOn</a:t>
                      </a:r>
                      <a:r>
                        <a:rPr lang="en-US" sz="2400" dirty="0" smtClean="0"/>
                        <a:t>(Light)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Light is off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Light</a:t>
                      </a:r>
                      <a:r>
                        <a:rPr lang="en-US" sz="2400" baseline="0" dirty="0" smtClean="0"/>
                        <a:t> becomes on</a:t>
                      </a:r>
                      <a:endParaRPr lang="en-US" sz="2400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TurnOff</a:t>
                      </a:r>
                      <a:r>
                        <a:rPr lang="en-US" sz="2400" dirty="0" smtClean="0"/>
                        <a:t>(Light)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Light is 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Light becomes off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 smtClean="0"/>
              <a:t>Example 2: Autonomous Delivery Robot: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Scenario: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 delivery robot moves between rooms.</a:t>
            </a:r>
          </a:p>
          <a:p>
            <a:endParaRPr lang="en-US" sz="24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2514600"/>
          <a:ext cx="8077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/>
                <a:gridCol w="2692400"/>
                <a:gridCol w="269240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Action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Precondition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Effect</a:t>
                      </a:r>
                      <a:endParaRPr lang="en-US" sz="2400" dirty="0"/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Move(</a:t>
                      </a:r>
                      <a:r>
                        <a:rPr lang="en-US" sz="2400" dirty="0" err="1"/>
                        <a:t>RoomA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RoomB</a:t>
                      </a:r>
                      <a:r>
                        <a:rPr lang="en-US" sz="2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Robot is in RoomA and path is 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Robot will be in </a:t>
                      </a:r>
                      <a:r>
                        <a:rPr lang="en-US" sz="2400" dirty="0" err="1"/>
                        <a:t>RoomB</a:t>
                      </a:r>
                      <a:endParaRPr lang="en-US" sz="2400" dirty="0"/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/>
                        <a:t>PickUp</a:t>
                      </a:r>
                      <a:r>
                        <a:rPr lang="en-US" sz="2400" dirty="0"/>
                        <a:t>(Package)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Robot is near 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Package is carried</a:t>
                      </a:r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Drop(Package)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Robot is carrying package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Package is delivered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 smtClean="0"/>
              <a:t>Why It’s Important in KRR:</a:t>
            </a:r>
          </a:p>
          <a:p>
            <a:pPr algn="ctr"/>
            <a:endParaRPr lang="en-US" b="1" u="sng" dirty="0" smtClean="0"/>
          </a:p>
          <a:p>
            <a:r>
              <a:rPr lang="en-US" sz="2400" dirty="0" smtClean="0"/>
              <a:t>Reasoning about actions helps AI systems:</a:t>
            </a:r>
          </a:p>
          <a:p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b="1" dirty="0" smtClean="0"/>
              <a:t>Plan sequences</a:t>
            </a:r>
            <a:r>
              <a:rPr lang="en-US" sz="2400" dirty="0" smtClean="0"/>
              <a:t> of actions to achieve goals.</a:t>
            </a:r>
          </a:p>
          <a:p>
            <a:pPr algn="just"/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b="1" dirty="0" smtClean="0"/>
              <a:t>Predict consequences</a:t>
            </a:r>
            <a:r>
              <a:rPr lang="en-US" sz="2400" dirty="0" smtClean="0"/>
              <a:t> of their actions.</a:t>
            </a:r>
          </a:p>
          <a:p>
            <a:pPr algn="just"/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b="1" dirty="0" smtClean="0"/>
              <a:t>Handle changes</a:t>
            </a:r>
            <a:r>
              <a:rPr lang="en-US" sz="2400" dirty="0" smtClean="0"/>
              <a:t> in dynamic environments.</a:t>
            </a:r>
          </a:p>
          <a:p>
            <a:pPr algn="just"/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b="1" dirty="0" smtClean="0"/>
              <a:t>Avoid conflicting actions</a:t>
            </a:r>
            <a:r>
              <a:rPr lang="en-US" sz="2400" dirty="0" smtClean="0"/>
              <a:t> (e.g., turning on a light that’s already on).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 smtClean="0"/>
              <a:t>Applications:</a:t>
            </a:r>
          </a:p>
          <a:p>
            <a:pPr algn="ctr"/>
            <a:endParaRPr lang="en-US" b="1" u="sng" dirty="0" smtClean="0"/>
          </a:p>
          <a:p>
            <a:pPr>
              <a:buFont typeface="Wingdings" pitchFamily="2" charset="2"/>
              <a:buChar char="ü"/>
            </a:pPr>
            <a:r>
              <a:rPr lang="en-US" sz="2400" b="1" dirty="0" smtClean="0"/>
              <a:t>Robotics</a:t>
            </a:r>
            <a:r>
              <a:rPr lang="en-US" sz="2400" dirty="0" smtClean="0"/>
              <a:t> – planning robot movements.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b="1" dirty="0" smtClean="0"/>
              <a:t>Smart home systems</a:t>
            </a:r>
            <a:r>
              <a:rPr lang="en-US" sz="2400" dirty="0" smtClean="0"/>
              <a:t> – intelligent automation.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b="1" dirty="0" smtClean="0"/>
              <a:t>Industrial automation</a:t>
            </a:r>
            <a:r>
              <a:rPr lang="en-US" sz="2400" dirty="0" smtClean="0"/>
              <a:t> – planning machine operations.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 smtClean="0"/>
              <a:t>Planning in AI: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Planning is the process of deciding a sequence of actions that leads an intelligent agent from an initial state to a goal state.</a:t>
            </a:r>
          </a:p>
          <a:p>
            <a:pPr algn="just"/>
            <a:endParaRPr lang="en-US" sz="2400" b="1" u="sng" dirty="0" smtClean="0"/>
          </a:p>
          <a:p>
            <a:r>
              <a:rPr lang="en-US" sz="2400" dirty="0" smtClean="0"/>
              <a:t>In simple words:</a:t>
            </a:r>
          </a:p>
          <a:p>
            <a:r>
              <a:rPr lang="en-US" sz="2400" dirty="0" smtClean="0"/>
              <a:t>		</a:t>
            </a:r>
          </a:p>
          <a:p>
            <a:r>
              <a:rPr lang="en-US" sz="2400" dirty="0" smtClean="0"/>
              <a:t>		</a:t>
            </a:r>
            <a:r>
              <a:rPr lang="en-US" sz="2400" b="1" dirty="0" smtClean="0"/>
              <a:t>“Planning is thinking before acting.”</a:t>
            </a:r>
          </a:p>
          <a:p>
            <a:pPr algn="just"/>
            <a:endParaRPr lang="en-US" b="1" u="sng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555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b="1" u="sng" dirty="0" smtClean="0"/>
              <a:t>Role of Knowledge Representation in Planning: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Planning depends on how knowledge is represented:</a:t>
            </a:r>
          </a:p>
          <a:p>
            <a:pPr algn="just"/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/>
              <a:t>The </a:t>
            </a:r>
            <a:r>
              <a:rPr lang="en-US" sz="2400" b="1" dirty="0" smtClean="0"/>
              <a:t>environment</a:t>
            </a:r>
            <a:r>
              <a:rPr lang="en-US" sz="2400" dirty="0" smtClean="0"/>
              <a:t> (states) must be represented in a logical form.</a:t>
            </a:r>
          </a:p>
          <a:p>
            <a:pPr algn="just"/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b="1" dirty="0" smtClean="0"/>
              <a:t>Actions</a:t>
            </a:r>
            <a:r>
              <a:rPr lang="en-US" sz="2400" dirty="0" smtClean="0"/>
              <a:t> must include preconditions (when they can happen) and effects (what changes).</a:t>
            </a:r>
          </a:p>
          <a:p>
            <a:pPr algn="just"/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b="1" dirty="0" smtClean="0"/>
              <a:t>Goals</a:t>
            </a:r>
            <a:r>
              <a:rPr lang="en-US" sz="2400" dirty="0" smtClean="0"/>
              <a:t> must be stated as logical conditions that need to be achieved.</a:t>
            </a:r>
          </a:p>
          <a:p>
            <a:pPr algn="just"/>
            <a:endParaRPr lang="en-US" b="1" u="sng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b="1" u="sng" dirty="0" smtClean="0"/>
              <a:t>Example: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Action: </a:t>
            </a:r>
            <a:r>
              <a:rPr lang="en-US" sz="2400" dirty="0" smtClean="0"/>
              <a:t>move(A, B)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b="1" dirty="0" smtClean="0"/>
              <a:t>Precondition: </a:t>
            </a:r>
            <a:r>
              <a:rPr lang="en-US" sz="2400" dirty="0" smtClean="0"/>
              <a:t>at(A)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b="1" dirty="0" smtClean="0"/>
              <a:t>Effect: </a:t>
            </a:r>
            <a:r>
              <a:rPr lang="en-US" sz="2400" dirty="0" smtClean="0"/>
              <a:t>at(B), not at(A)</a:t>
            </a:r>
            <a:endParaRPr lang="en-US" b="1" u="sng" dirty="0" smtClean="0"/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 smtClean="0"/>
              <a:t>Components of a Planning Problem:</a:t>
            </a:r>
          </a:p>
          <a:p>
            <a:pPr algn="just"/>
            <a:endParaRPr lang="en-US" sz="2400" b="1" dirty="0" smtClean="0"/>
          </a:p>
          <a:p>
            <a:endParaRPr lang="en-US" sz="2400" dirty="0" smtClean="0"/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397000"/>
          <a:ext cx="7696200" cy="4699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400"/>
                <a:gridCol w="2565400"/>
                <a:gridCol w="2565400"/>
              </a:tblGrid>
              <a:tr h="783167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</a:tr>
              <a:tr h="783167">
                <a:tc>
                  <a:txBody>
                    <a:bodyPr/>
                    <a:lstStyle/>
                    <a:p>
                      <a:r>
                        <a:rPr lang="en-US" b="1"/>
                        <a:t>Initial State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Where the agent starts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Robot at Room A</a:t>
                      </a:r>
                    </a:p>
                  </a:txBody>
                  <a:tcPr anchor="ctr"/>
                </a:tc>
              </a:tr>
              <a:tr h="783167">
                <a:tc>
                  <a:txBody>
                    <a:bodyPr/>
                    <a:lstStyle/>
                    <a:p>
                      <a:r>
                        <a:rPr lang="en-US" b="1"/>
                        <a:t>Goal State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Desired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Robot at Room C</a:t>
                      </a:r>
                    </a:p>
                  </a:txBody>
                  <a:tcPr anchor="ctr"/>
                </a:tc>
              </a:tr>
              <a:tr h="783167">
                <a:tc>
                  <a:txBody>
                    <a:bodyPr/>
                    <a:lstStyle/>
                    <a:p>
                      <a:r>
                        <a:rPr lang="en-US" b="1"/>
                        <a:t>Actions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What agent can 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move(A,B), move(B,C)</a:t>
                      </a:r>
                    </a:p>
                  </a:txBody>
                  <a:tcPr anchor="ctr"/>
                </a:tc>
              </a:tr>
              <a:tr h="783167">
                <a:tc>
                  <a:txBody>
                    <a:bodyPr/>
                    <a:lstStyle/>
                    <a:p>
                      <a:r>
                        <a:rPr lang="en-US" b="1"/>
                        <a:t>Transition Model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How actions change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move(A,B) → at(B)</a:t>
                      </a:r>
                    </a:p>
                  </a:txBody>
                  <a:tcPr anchor="ctr"/>
                </a:tc>
              </a:tr>
              <a:tr h="783167">
                <a:tc>
                  <a:txBody>
                    <a:bodyPr/>
                    <a:lstStyle/>
                    <a:p>
                      <a:r>
                        <a:rPr lang="en-US" b="1"/>
                        <a:t>Plan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Sequence of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[move(A,B), move(B,C)]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 smtClean="0"/>
              <a:t>Resources in KRR</a:t>
            </a:r>
            <a:r>
              <a:rPr lang="en-US" sz="3400" b="1" u="sng" dirty="0" smtClean="0"/>
              <a:t>:</a:t>
            </a:r>
            <a:endParaRPr lang="en-US" sz="3400" b="1" u="sng" dirty="0" smtClean="0"/>
          </a:p>
          <a:p>
            <a:pPr algn="just"/>
            <a:endParaRPr lang="en-US" sz="2400" b="1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/>
              <a:t>Resources are entities or assets in a system that can be used, consumed, or allocated</a:t>
            </a:r>
            <a:r>
              <a:rPr lang="en-US" sz="2400" dirty="0" smtClean="0"/>
              <a:t>.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/>
              <a:t>In </a:t>
            </a:r>
            <a:r>
              <a:rPr lang="en-US" sz="2400" dirty="0" smtClean="0"/>
              <a:t>KRR, reasoning about actions often involves tracking resources, their availability, and their consumption</a:t>
            </a:r>
            <a:r>
              <a:rPr lang="en-US" sz="2400" dirty="0" smtClean="0"/>
              <a:t>.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 smtClean="0"/>
          </a:p>
          <a:p>
            <a:pPr algn="just"/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400" b="1" dirty="0" smtClean="0"/>
          </a:p>
          <a:p>
            <a:r>
              <a:rPr lang="en-US" sz="3400" b="1" u="sng" dirty="0" smtClean="0"/>
              <a:t>Examples of resources</a:t>
            </a:r>
            <a:r>
              <a:rPr lang="en-US" sz="3400" b="1" u="sng" dirty="0" smtClean="0"/>
              <a:t>:</a:t>
            </a:r>
          </a:p>
          <a:p>
            <a:endParaRPr lang="en-US" sz="2400" u="sng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b="1" dirty="0" smtClean="0"/>
              <a:t>Physical resources:</a:t>
            </a:r>
            <a:r>
              <a:rPr lang="en-US" sz="2400" dirty="0" smtClean="0"/>
              <a:t> battery of a robot, fuel, raw materials in manufacturing, hospital beds</a:t>
            </a:r>
            <a:r>
              <a:rPr lang="en-US" sz="2400" dirty="0" smtClean="0"/>
              <a:t>.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b="1" dirty="0" smtClean="0"/>
              <a:t>Information resources:</a:t>
            </a:r>
            <a:r>
              <a:rPr lang="en-US" sz="2400" dirty="0" smtClean="0"/>
              <a:t> data, knowledge base entries, facts, rules</a:t>
            </a:r>
            <a:r>
              <a:rPr lang="en-US" sz="2400" dirty="0" smtClean="0"/>
              <a:t>.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b="1" dirty="0" smtClean="0"/>
              <a:t>Time resources:</a:t>
            </a:r>
            <a:r>
              <a:rPr lang="en-US" sz="2400" dirty="0" smtClean="0"/>
              <a:t> deadlines, available time slots for tasks</a:t>
            </a:r>
            <a:r>
              <a:rPr lang="en-US" sz="2400" dirty="0" smtClean="0"/>
              <a:t>.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2400" b="1" dirty="0" smtClean="0"/>
              <a:t>Computational resources:</a:t>
            </a:r>
            <a:r>
              <a:rPr lang="en-US" sz="2400" dirty="0" smtClean="0"/>
              <a:t> CPU, memory, bandwidth (for multi-agent systems or planning).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 smtClean="0"/>
          </a:p>
          <a:p>
            <a:pPr algn="just"/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 smtClean="0"/>
              <a:t>Why </a:t>
            </a:r>
            <a:r>
              <a:rPr lang="en-US" sz="3400" b="1" u="sng" dirty="0" smtClean="0"/>
              <a:t>Resources Matter in KRR</a:t>
            </a:r>
            <a:r>
              <a:rPr lang="en-US" sz="3400" b="1" u="sng" dirty="0" smtClean="0"/>
              <a:t>:</a:t>
            </a:r>
          </a:p>
          <a:p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 smtClean="0"/>
              <a:t>AI, many problems are </a:t>
            </a:r>
            <a:r>
              <a:rPr lang="en-US" sz="2400" b="1" dirty="0" smtClean="0"/>
              <a:t>resource-constrained</a:t>
            </a:r>
            <a:r>
              <a:rPr lang="en-US" sz="2400" dirty="0" smtClean="0"/>
              <a:t>. Reasoning about resources allows the system to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b="1" dirty="0" smtClean="0"/>
              <a:t>Plan efficiently:</a:t>
            </a:r>
            <a:r>
              <a:rPr lang="en-US" sz="2400" dirty="0" smtClean="0"/>
              <a:t> select actions that respect availability of resources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b="1" dirty="0" smtClean="0"/>
              <a:t>Avoid conflicts:</a:t>
            </a:r>
            <a:r>
              <a:rPr lang="en-US" sz="2400" dirty="0" smtClean="0"/>
              <a:t> prevent overuse of a scarce resource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b="1" dirty="0" smtClean="0"/>
              <a:t>Predict outcomes:</a:t>
            </a:r>
            <a:r>
              <a:rPr lang="en-US" sz="2400" dirty="0" smtClean="0"/>
              <a:t> model what happens if resources are consumed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b="1" dirty="0" smtClean="0"/>
              <a:t>Make decisions under constraints:</a:t>
            </a:r>
            <a:r>
              <a:rPr lang="en-US" sz="2400" dirty="0" smtClean="0"/>
              <a:t> optimize performance while considering resource limits</a:t>
            </a:r>
          </a:p>
          <a:p>
            <a:endParaRPr lang="en-US" sz="2400" u="sng" dirty="0" smtClean="0"/>
          </a:p>
          <a:p>
            <a:pPr algn="just">
              <a:buFont typeface="Wingdings" pitchFamily="2" charset="2"/>
              <a:buChar char="ü"/>
            </a:pPr>
            <a:endParaRPr lang="en-US" sz="2400" dirty="0" smtClean="0"/>
          </a:p>
          <a:p>
            <a:pPr algn="just"/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 smtClean="0"/>
              <a:t>How Resources Are Represented in KRR</a:t>
            </a:r>
            <a:r>
              <a:rPr lang="en-US" sz="3400" b="1" u="sng" dirty="0" smtClean="0"/>
              <a:t>:</a:t>
            </a:r>
          </a:p>
          <a:p>
            <a:r>
              <a:rPr lang="en-US" sz="2400" dirty="0" smtClean="0"/>
              <a:t>Resources are usually represented as </a:t>
            </a:r>
            <a:r>
              <a:rPr lang="en-US" sz="2400" dirty="0" err="1" smtClean="0"/>
              <a:t>fluents</a:t>
            </a:r>
            <a:r>
              <a:rPr lang="en-US" sz="2400" dirty="0" smtClean="0"/>
              <a:t> or variables in a knowledge base or planning </a:t>
            </a:r>
            <a:r>
              <a:rPr lang="en-US" sz="2400" dirty="0" smtClean="0"/>
              <a:t>system.</a:t>
            </a:r>
          </a:p>
          <a:p>
            <a:endParaRPr lang="en-US" sz="2400" dirty="0" smtClean="0"/>
          </a:p>
          <a:p>
            <a:r>
              <a:rPr lang="en-US" sz="2400" b="1" u="sng" dirty="0" smtClean="0"/>
              <a:t>Examples:</a:t>
            </a:r>
          </a:p>
          <a:p>
            <a:r>
              <a:rPr lang="en-US" sz="2400" b="1" u="sng" dirty="0" smtClean="0"/>
              <a:t>Fluent representation (logical KRR style):</a:t>
            </a:r>
            <a:endParaRPr lang="en-US" sz="2400" u="sng" dirty="0" smtClean="0"/>
          </a:p>
          <a:p>
            <a:r>
              <a:rPr lang="en-US" sz="2400" dirty="0" err="1" smtClean="0"/>
              <a:t>battery_level</a:t>
            </a:r>
            <a:r>
              <a:rPr lang="en-US" sz="2400" dirty="0" smtClean="0"/>
              <a:t>(robot, 100).   % robot battery is 100%</a:t>
            </a:r>
          </a:p>
          <a:p>
            <a:r>
              <a:rPr lang="en-US" sz="2400" dirty="0" smtClean="0"/>
              <a:t>fuel(car, 50).               % car fuel = 50 </a:t>
            </a:r>
            <a:r>
              <a:rPr lang="en-US" sz="2400" dirty="0" smtClean="0"/>
              <a:t>liters</a:t>
            </a:r>
          </a:p>
          <a:p>
            <a:endParaRPr lang="en-US" sz="2400" dirty="0" smtClean="0"/>
          </a:p>
          <a:p>
            <a:pPr algn="just"/>
            <a:r>
              <a:rPr lang="en-US" sz="2400" b="1" u="sng" dirty="0" smtClean="0"/>
              <a:t>Resource usage in actions</a:t>
            </a:r>
            <a:r>
              <a:rPr lang="en-US" sz="2400" b="1" u="sng" dirty="0" smtClean="0"/>
              <a:t>:</a:t>
            </a:r>
          </a:p>
          <a:p>
            <a:pPr algn="just"/>
            <a:r>
              <a:rPr lang="en-US" sz="2400" dirty="0" smtClean="0"/>
              <a:t>action(move(Robot, From, To)) :- </a:t>
            </a:r>
          </a:p>
          <a:p>
            <a:pPr algn="just"/>
            <a:r>
              <a:rPr lang="en-US" sz="2400" dirty="0" smtClean="0"/>
              <a:t>    </a:t>
            </a:r>
            <a:r>
              <a:rPr lang="en-US" sz="2400" dirty="0" err="1" smtClean="0"/>
              <a:t>battery_level</a:t>
            </a:r>
            <a:r>
              <a:rPr lang="en-US" sz="2400" dirty="0" smtClean="0"/>
              <a:t>(Robot, B), B &gt;= 10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smtClean="0"/>
              <a:t>Here, </a:t>
            </a:r>
            <a:r>
              <a:rPr lang="en-US" sz="2400" b="1" dirty="0" smtClean="0"/>
              <a:t>move</a:t>
            </a:r>
            <a:r>
              <a:rPr lang="en-US" sz="2400" dirty="0" smtClean="0"/>
              <a:t> action consumes battery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u="sng" dirty="0" smtClean="0"/>
              <a:t>Constraints </a:t>
            </a:r>
            <a:r>
              <a:rPr lang="en-US" sz="2400" b="1" u="sng" dirty="0" smtClean="0"/>
              <a:t>on resources:</a:t>
            </a:r>
          </a:p>
          <a:p>
            <a:pPr algn="just"/>
            <a:r>
              <a:rPr lang="en-US" sz="2400" dirty="0" smtClean="0"/>
              <a:t>:- move(Robot, _, _), </a:t>
            </a:r>
            <a:r>
              <a:rPr lang="en-US" sz="2400" dirty="0" err="1" smtClean="0"/>
              <a:t>battery_level</a:t>
            </a:r>
            <a:r>
              <a:rPr lang="en-US" sz="2400" dirty="0" smtClean="0"/>
              <a:t>(Robot, B), B &lt; 10.</a:t>
            </a:r>
          </a:p>
          <a:p>
            <a:pPr algn="just"/>
            <a:r>
              <a:rPr lang="en-US" sz="2400" dirty="0" smtClean="0"/>
              <a:t>This prevents the robot from moving if battery is too low.</a:t>
            </a:r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96511-3A4C-4867-AB14-6836CE826C7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381000"/>
            <a:ext cx="80772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 smtClean="0"/>
              <a:t>Resource Reasoning in Planning</a:t>
            </a:r>
            <a:r>
              <a:rPr lang="en-US" sz="3400" b="1" u="sng" dirty="0" smtClean="0"/>
              <a:t>:</a:t>
            </a:r>
          </a:p>
          <a:p>
            <a:pPr algn="just"/>
            <a:r>
              <a:rPr lang="en-US" sz="2400" dirty="0" smtClean="0"/>
              <a:t>In AI planning and KRR, resources are critical for reasoning about actions over time</a:t>
            </a:r>
            <a:r>
              <a:rPr lang="en-US" sz="2400" dirty="0" smtClean="0"/>
              <a:t>:</a:t>
            </a:r>
          </a:p>
          <a:p>
            <a:pPr algn="just"/>
            <a:endParaRPr lang="en-US" sz="2400" dirty="0" smtClean="0"/>
          </a:p>
          <a:p>
            <a:r>
              <a:rPr lang="en-US" sz="2400" b="1" dirty="0" smtClean="0"/>
              <a:t>Example:</a:t>
            </a:r>
            <a:r>
              <a:rPr lang="en-US" sz="2400" dirty="0" smtClean="0"/>
              <a:t> Scheduling tasks in a factory: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Machines (resources) can process tasks.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Each task consumes a machine for a certain time.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Planner finds a feasible schedule respecting machine availability</a:t>
            </a:r>
            <a:r>
              <a:rPr lang="en-US" sz="2400" dirty="0" smtClean="0"/>
              <a:t>.</a:t>
            </a:r>
          </a:p>
          <a:p>
            <a:pPr lvl="1"/>
            <a:endParaRPr lang="en-US" sz="2400" dirty="0" smtClean="0"/>
          </a:p>
          <a:p>
            <a:r>
              <a:rPr lang="en-US" sz="2400" b="1" dirty="0" smtClean="0"/>
              <a:t>Example in robot domain:</a:t>
            </a:r>
            <a:endParaRPr lang="en-US" sz="2400" dirty="0" smtClean="0"/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Robot wants to go from Room A → Room C.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It consumes 10 battery units per move.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/>
              <a:t>Must plan the path without running out of battery.</a:t>
            </a:r>
          </a:p>
          <a:p>
            <a:pPr algn="just"/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3702</TotalTime>
  <Words>868</Words>
  <Application>Microsoft Office PowerPoint</Application>
  <PresentationFormat>On-screen Show (4:3)</PresentationFormat>
  <Paragraphs>205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SHAHEED ZULFIKAR ALI BHUTTO INSTITUTE OF SCIENCE AND TECHNOLOGY UNIVERSITY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SHAHEED ZULFIKAR ALI BHUTTO INSTITUTE OF SCIENCE AND TECHNOLOGY UNIVERSITY </dc:title>
  <dc:creator>Bilal Ahmed</dc:creator>
  <cp:lastModifiedBy>Bilal Ahmed</cp:lastModifiedBy>
  <cp:revision>97</cp:revision>
  <dcterms:created xsi:type="dcterms:W3CDTF">2025-09-07T17:44:22Z</dcterms:created>
  <dcterms:modified xsi:type="dcterms:W3CDTF">2025-11-13T18:48:40Z</dcterms:modified>
</cp:coreProperties>
</file>