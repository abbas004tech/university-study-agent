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8" r:id="rId6"/>
    <p:sldId id="259" r:id="rId7"/>
    <p:sldId id="260" r:id="rId8"/>
    <p:sldId id="273" r:id="rId9"/>
    <p:sldId id="261" r:id="rId10"/>
    <p:sldId id="274" r:id="rId11"/>
    <p:sldId id="262" r:id="rId12"/>
    <p:sldId id="263" r:id="rId13"/>
    <p:sldId id="264" r:id="rId14"/>
    <p:sldId id="265" r:id="rId15"/>
    <p:sldId id="266" r:id="rId16"/>
    <p:sldId id="267" r:id="rId17"/>
    <p:sldId id="269" r:id="rId18"/>
    <p:sldId id="270" r:id="rId19"/>
    <p:sldId id="271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910" y="1358900"/>
            <a:ext cx="10687050" cy="1082675"/>
          </a:xfrm>
        </p:spPr>
        <p:txBody>
          <a:bodyPr/>
          <a:p>
            <a:r>
              <a:rPr lang="en-US" sz="4800" b="1">
                <a:latin typeface="Cambria" panose="02040503050406030204" charset="0"/>
                <a:cs typeface="Cambria" panose="02040503050406030204" charset="0"/>
              </a:rPr>
              <a:t>Pakistan and UNO and it’s organs</a:t>
            </a:r>
            <a:endParaRPr lang="en-US" sz="4800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3706" y="5105400"/>
            <a:ext cx="9218083" cy="1752600"/>
          </a:xfrm>
        </p:spPr>
        <p:txBody>
          <a:bodyPr/>
          <a:p>
            <a:r>
              <a:rPr lang="en-US" sz="2800">
                <a:solidFill>
                  <a:schemeClr val="bg1">
                    <a:lumMod val="65000"/>
                  </a:schemeClr>
                </a:solidFill>
              </a:rPr>
              <a:t>Aisha Shaikh</a:t>
            </a:r>
            <a:endParaRPr lang="en-US" sz="280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Introduction to the United Nations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00000"/>
              </a:lnSpc>
            </a:pPr>
            <a:r>
              <a:rPr lang="en-US" altLang="en-US"/>
              <a:t>The United Nations (UN) was established on </a:t>
            </a:r>
            <a:r>
              <a:rPr lang="en-US" altLang="en-US" b="1"/>
              <a:t>24th October 1945</a:t>
            </a:r>
            <a:endParaRPr lang="en-US" altLang="en-US" b="1"/>
          </a:p>
          <a:p>
            <a:pPr>
              <a:lnSpc>
                <a:spcPct val="100000"/>
              </a:lnSpc>
            </a:pPr>
            <a:r>
              <a:rPr lang="en-US" altLang="en-US"/>
              <a:t>It has 193 member states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Founded after World War II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Purpose: Maintain international peace, security, and cooperation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Headquarters: </a:t>
            </a:r>
            <a:r>
              <a:rPr lang="en-US" altLang="en-US" b="1"/>
              <a:t>New York City</a:t>
            </a:r>
            <a:endParaRPr lang="en-US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Objectives of the UN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Maintain international peace and security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Promote human rights and fundamental freedom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Foster social and economic development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Uphold international law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Provide humanitarian aid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Cambria" panose="02040503050406030204" charset="0"/>
                <a:cs typeface="Cambria" panose="02040503050406030204" charset="0"/>
              </a:rPr>
              <a:t>Official Languages</a:t>
            </a:r>
            <a:endParaRPr 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Spanish</a:t>
            </a:r>
            <a:endParaRPr lang="en-US"/>
          </a:p>
          <a:p>
            <a:r>
              <a:rPr lang="en-US"/>
              <a:t>Chinese</a:t>
            </a:r>
            <a:endParaRPr lang="en-US"/>
          </a:p>
          <a:p>
            <a:r>
              <a:rPr lang="en-US"/>
              <a:t>Russian</a:t>
            </a:r>
            <a:endParaRPr lang="en-US"/>
          </a:p>
          <a:p>
            <a:r>
              <a:rPr lang="en-US"/>
              <a:t>English </a:t>
            </a:r>
            <a:endParaRPr lang="en-US"/>
          </a:p>
          <a:p>
            <a:r>
              <a:rPr lang="en-US"/>
              <a:t>Arabic</a:t>
            </a:r>
            <a:endParaRPr lang="en-US"/>
          </a:p>
          <a:p>
            <a:r>
              <a:rPr lang="en-US"/>
              <a:t>French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Main Organs of the UN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/>
              <a:t>The UN has 6 principal organs: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General Assembly</a:t>
            </a:r>
            <a:endParaRPr lang="en-US" altLang="en-US"/>
          </a:p>
          <a:p>
            <a:r>
              <a:rPr lang="en-US" altLang="en-US"/>
              <a:t>Security Council</a:t>
            </a:r>
            <a:endParaRPr lang="en-US" altLang="en-US"/>
          </a:p>
          <a:p>
            <a:r>
              <a:rPr lang="en-US" altLang="en-US"/>
              <a:t>Economic and Social Council (ECOSOC)</a:t>
            </a:r>
            <a:endParaRPr lang="en-US" altLang="en-US"/>
          </a:p>
          <a:p>
            <a:r>
              <a:rPr lang="en-US" altLang="en-US"/>
              <a:t>International Court of Justice (ICJ)</a:t>
            </a:r>
            <a:endParaRPr lang="en-US" altLang="en-US"/>
          </a:p>
          <a:p>
            <a:r>
              <a:rPr lang="en-US" altLang="en-US"/>
              <a:t>Secretariat</a:t>
            </a:r>
            <a:endParaRPr lang="en-US" altLang="en-US"/>
          </a:p>
          <a:p>
            <a:r>
              <a:rPr lang="en-US" altLang="en-US"/>
              <a:t>Trusteeship Council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General Assembly (GA)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Main deliberative body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All 193 member states represented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Equal voting (1 country = 1 vote)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Discusses global issues (peace, economy, human rights)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Meets annually (September to December)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Cambria" panose="02040503050406030204" charset="0"/>
                <a:cs typeface="Cambria" panose="02040503050406030204" charset="0"/>
              </a:rPr>
              <a:t>Key Functions</a:t>
            </a:r>
            <a:endParaRPr 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Approves the UN budget and determines member assesments.</a:t>
            </a:r>
            <a:endParaRPr lang="en-US"/>
          </a:p>
          <a:p>
            <a:r>
              <a:rPr lang="en-US"/>
              <a:t>Elects the non-permanant members of the Security Council and other UN bodies.</a:t>
            </a:r>
            <a:endParaRPr lang="en-US"/>
          </a:p>
          <a:p>
            <a:r>
              <a:rPr lang="en-US"/>
              <a:t>Appoints the Secretary-General (on the recommendation of the Security Council). 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Security Council (UNSC)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800"/>
              <a:t>Responsible for </a:t>
            </a:r>
            <a:r>
              <a:rPr lang="en-US" altLang="en-US" sz="2800" b="1"/>
              <a:t>international peace and security</a:t>
            </a:r>
            <a:endParaRPr lang="en-US" altLang="en-US" sz="2800" b="1"/>
          </a:p>
          <a:p>
            <a:pPr marL="0" indent="0">
              <a:buNone/>
            </a:pPr>
            <a:r>
              <a:rPr lang="en-US" altLang="en-US" sz="2800"/>
              <a:t>Unlike other organs,it’s decissions are legally binding on all member states.</a:t>
            </a:r>
            <a:endParaRPr lang="en-US" altLang="en-US" sz="2800"/>
          </a:p>
          <a:p>
            <a:r>
              <a:rPr lang="en-US" altLang="en-US" sz="2800" b="1"/>
              <a:t>Membership</a:t>
            </a:r>
            <a:r>
              <a:rPr lang="en-US" altLang="en-US" sz="2800"/>
              <a:t>:15 Members:</a:t>
            </a:r>
            <a:endParaRPr lang="en-US" altLang="en-US" sz="2800"/>
          </a:p>
          <a:p>
            <a:pPr>
              <a:buFont typeface="Wingdings" panose="05000000000000000000" charset="0"/>
              <a:buChar char="Ø"/>
            </a:pPr>
            <a:r>
              <a:rPr lang="en-US" altLang="en-US" sz="2800"/>
              <a:t>5 Permanent (P5):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1.United States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2.United Kingdom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3.France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4.China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5.Russia</a:t>
            </a:r>
            <a:endParaRPr lang="en-US" altLang="en-US" sz="2800"/>
          </a:p>
          <a:p>
            <a:r>
              <a:rPr lang="en-US" altLang="en-US" sz="2800">
                <a:sym typeface="+mn-ea"/>
              </a:rPr>
              <a:t>Power of veto (only P5)</a:t>
            </a:r>
            <a:endParaRPr lang="en-US" altLang="en-US"/>
          </a:p>
          <a:p>
            <a:pPr marL="0" indent="0">
              <a:buNone/>
            </a:pPr>
            <a:endParaRPr lang="en-US" altLang="en-US"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Cambria" panose="02040503050406030204" charset="0"/>
                <a:cs typeface="Cambria" panose="02040503050406030204" charset="0"/>
              </a:rPr>
              <a:t>continue</a:t>
            </a:r>
            <a:endParaRPr 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ym typeface="+mn-ea"/>
              </a:rPr>
              <a:t>10 non-permanent members (Elected by the GA for 2-year term)</a:t>
            </a:r>
            <a:endParaRPr lang="en-US" altLang="en-US">
              <a:sym typeface="+mn-ea"/>
            </a:endParaRPr>
          </a:p>
          <a:p>
            <a:r>
              <a:rPr lang="en-US" altLang="en-US" b="1">
                <a:sym typeface="+mn-ea"/>
              </a:rPr>
              <a:t>Powers:</a:t>
            </a:r>
            <a:r>
              <a:rPr lang="en-US" altLang="en-US">
                <a:sym typeface="+mn-ea"/>
              </a:rPr>
              <a:t> It can authorize peacekeeping missions,impose international sanctions,or authorize military action to restore security.</a:t>
            </a:r>
            <a:endParaRPr lang="en-US" alt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Economic and Social Council (ECOSOC)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/>
              <a:t>ECOSOC is the principal body for coordination,policy review,and recommendations on economic,social,and environmental issues.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54 members(Elected by GA for 3 years term)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Works with agencies like: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    1.World Health Organization (WHO)</a:t>
            </a:r>
            <a:endParaRPr lang="en-US" altLang="en-US" sz="2800"/>
          </a:p>
          <a:p>
            <a:pPr marL="0" indent="0">
              <a:buNone/>
            </a:pPr>
            <a:r>
              <a:rPr lang="en-US" altLang="en-US" sz="2800"/>
              <a:t>         2.UNESCO</a:t>
            </a:r>
            <a:endParaRPr lang="en-US" altLang="en-US" sz="2800"/>
          </a:p>
          <a:p>
            <a:pPr marL="0" indent="0">
              <a:buNone/>
            </a:pPr>
            <a:endParaRPr lang="en-US" altLang="en-US" sz="2800"/>
          </a:p>
          <a:p>
            <a:r>
              <a:rPr lang="en-US" altLang="en-US" sz="2800"/>
              <a:t>Focus: development, education, health</a:t>
            </a:r>
            <a:endParaRPr lang="en-US" altLang="en-US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International Court of Justice (ICJ)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/>
              <a:t>Judicial organ of UN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15 judges, tenure-9 years elected by GA.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Located in </a:t>
            </a:r>
            <a:r>
              <a:rPr lang="en-US" altLang="en-US" sz="2800" b="1"/>
              <a:t>The Hague,Netherlands</a:t>
            </a:r>
            <a:endParaRPr lang="en-US" altLang="en-US" sz="2800" b="1"/>
          </a:p>
          <a:p>
            <a:endParaRPr lang="en-US" altLang="en-US" sz="2800"/>
          </a:p>
          <a:p>
            <a:r>
              <a:rPr lang="en-US" altLang="en-US" sz="2800"/>
              <a:t>Settles legal disputes between States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Gives advisory opinions to UN organs and specialized agencies.</a:t>
            </a:r>
            <a:endParaRPr lang="en-US" altLang="en-US" sz="2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Secretariat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2800"/>
              <a:t>Administrative backbone of the UN.</a:t>
            </a:r>
            <a:endParaRPr lang="en-US" altLang="en-US" sz="2800"/>
          </a:p>
          <a:p>
            <a:endParaRPr lang="en-US" altLang="en-US" sz="2800"/>
          </a:p>
          <a:p>
            <a:r>
              <a:rPr lang="en-US" altLang="en-US" sz="2800"/>
              <a:t>Headed by Secretary-General (appointed for 5 year renewable term)</a:t>
            </a:r>
            <a:endParaRPr lang="en-US" altLang="en-US" sz="2800"/>
          </a:p>
          <a:p>
            <a:r>
              <a:rPr lang="en-US" altLang="en-US" sz="2800"/>
              <a:t>Current Secretary General: </a:t>
            </a:r>
            <a:r>
              <a:rPr lang="en-US" altLang="en-US" sz="2800" b="1"/>
              <a:t>António Guterres</a:t>
            </a:r>
            <a:endParaRPr lang="en-US" altLang="en-US" sz="2800" b="1"/>
          </a:p>
          <a:p>
            <a:r>
              <a:rPr lang="en-US" altLang="en-US" sz="2800" b="1"/>
              <a:t>Functions:</a:t>
            </a:r>
            <a:endParaRPr lang="en-US" altLang="en-US" sz="2800" b="1"/>
          </a:p>
          <a:p>
            <a:r>
              <a:rPr lang="en-US" altLang="en-US" sz="2800"/>
              <a:t>Handles daily operations</a:t>
            </a:r>
            <a:endParaRPr lang="en-US" altLang="en-US" sz="2800"/>
          </a:p>
          <a:p>
            <a:r>
              <a:rPr lang="en-US" altLang="en-US" sz="2800"/>
              <a:t>Provides studies,information, and facilities needed by other UN organs for their meetings.</a:t>
            </a:r>
            <a:endParaRPr lang="en-US" altLang="en-US" sz="2800"/>
          </a:p>
          <a:p>
            <a:r>
              <a:rPr lang="en-US" altLang="en-US" sz="2800"/>
              <a:t>Manages peacekeeping operations and mediates international disputes.</a:t>
            </a:r>
            <a:endParaRPr lang="en-US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Trusteeship Council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Originally established to provide international supervision for 11 Trust Territories to ensure they were prepared for self-government and independence.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Suspended operations in 1994, after Palau, the last remaining trust territory, attained independence.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It still exists as a principal organ but meets only as the occasion requires.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Pakistan and the UN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Pakistan joined UN on </a:t>
            </a:r>
            <a:r>
              <a:rPr lang="en-US" altLang="en-US" b="1"/>
              <a:t>30 September 1947</a:t>
            </a:r>
            <a:r>
              <a:rPr lang="en-US" altLang="en-US"/>
              <a:t>,after it’s independence. Today, it is a charter member and participates in all of the UN’s specialized agencies and organizations.</a:t>
            </a:r>
            <a:endParaRPr lang="en-US" altLang="en-US"/>
          </a:p>
          <a:p>
            <a:r>
              <a:rPr lang="en-US" altLang="en-US"/>
              <a:t>Pakistan has been elected</a:t>
            </a:r>
            <a:r>
              <a:rPr lang="en-US" altLang="en-US" b="1"/>
              <a:t> seven</a:t>
            </a:r>
            <a:r>
              <a:rPr lang="en-US" altLang="en-US"/>
              <a:t> times into the UN Security Council, with the most recent term in 2013. It is also one of the countries which has had a diplomat, </a:t>
            </a:r>
            <a:r>
              <a:rPr lang="en-US" altLang="en-US" b="1"/>
              <a:t>Muhammad Zafarullah Khan</a:t>
            </a:r>
            <a:r>
              <a:rPr lang="en-US" altLang="en-US"/>
              <a:t>, serve a term as the President of the United Nations General Assembly. 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Pakistan’s Role in UN Peacekeeping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4953000"/>
          </a:xfrm>
        </p:spPr>
        <p:txBody>
          <a:bodyPr/>
          <a:p>
            <a:r>
              <a:rPr lang="en-US" altLang="en-US"/>
              <a:t>Maintaining global peace a sacred duty.</a:t>
            </a:r>
            <a:endParaRPr lang="en-US" altLang="en-US"/>
          </a:p>
          <a:p>
            <a:r>
              <a:rPr lang="en-US" altLang="en-US"/>
              <a:t>Fights for a world which is free of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1.Want 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2.Hunger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3.Deprivation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4.Inequality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5.Oppression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6.War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latin typeface="Cambria" panose="02040503050406030204" charset="0"/>
                <a:cs typeface="Cambria" panose="02040503050406030204" charset="0"/>
              </a:rPr>
              <a:t>Pakistan in UN Agencies</a:t>
            </a:r>
            <a:endParaRPr 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354955"/>
          </a:xfrm>
        </p:spPr>
        <p:txBody>
          <a:bodyPr/>
          <a:p>
            <a:r>
              <a:rPr lang="en-US" sz="2800"/>
              <a:t>Pakistan participates in all of the UN’s specialized agencies. These include:</a:t>
            </a:r>
            <a:endParaRPr lang="en-US" sz="2800"/>
          </a:p>
          <a:p>
            <a:pPr marL="0" indent="0">
              <a:buNone/>
            </a:pPr>
            <a:r>
              <a:rPr lang="en-US" sz="2400"/>
              <a:t>1.United Nations Development Program (UNDP)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2.The World Food Program (WFP)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3.The World Health Organization (WHO)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4.The United Nations International Children’s Emergency Fund (UNICEF)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5.The United Nations Educational,Scientific and Cultural Organization (UNESCO)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6.UN International Fund for Agricultural Development (IFAD) 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7.The United Nations High Commission for refugees (UNHCR)</a:t>
            </a:r>
            <a:endParaRPr lang="en-US" sz="2400"/>
          </a:p>
          <a:p>
            <a:pPr marL="0" indent="0">
              <a:buNone/>
            </a:pPr>
            <a:r>
              <a:rPr lang="en-US" sz="2400"/>
              <a:t>8.UN Habitat</a:t>
            </a:r>
            <a:endParaRPr lang="en-US" sz="2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Pakistan’s Contributions to UN Goals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Supports Sustainable Development Goals (SDGs)</a:t>
            </a:r>
            <a:endParaRPr lang="en-US" altLang="en-US"/>
          </a:p>
          <a:p>
            <a:endParaRPr lang="en-US" altLang="en-US"/>
          </a:p>
          <a:p>
            <a:r>
              <a:rPr lang="en-US" altLang="en-US" b="1"/>
              <a:t>Promotes:</a:t>
            </a:r>
            <a:endParaRPr lang="en-US" altLang="en-US" b="1"/>
          </a:p>
          <a:p>
            <a:r>
              <a:rPr lang="en-US" altLang="en-US"/>
              <a:t>Peace</a:t>
            </a:r>
            <a:endParaRPr lang="en-US" altLang="en-US"/>
          </a:p>
          <a:p>
            <a:r>
              <a:rPr lang="en-US" altLang="en-US"/>
              <a:t>Human rights</a:t>
            </a:r>
            <a:endParaRPr lang="en-US" altLang="en-US"/>
          </a:p>
          <a:p>
            <a:r>
              <a:rPr lang="en-US" altLang="en-US"/>
              <a:t>Economic development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Challenges Faced by Pakistan in UN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Political conflicts (e.g., Kashmir issue)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Economic constraints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Regional instability</a:t>
            </a:r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b="1">
                <a:latin typeface="Cambria" panose="02040503050406030204" charset="0"/>
                <a:cs typeface="Cambria" panose="02040503050406030204" charset="0"/>
              </a:rPr>
              <a:t>Conclusion</a:t>
            </a:r>
            <a:endParaRPr lang="en-US" altLang="en-US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UN plays a vital role in global governance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Pakistan is an active and responsible member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Continued cooperation is essential for world peace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4354</Words>
  <Application>WPS Presentation</Application>
  <PresentationFormat>Widescreen</PresentationFormat>
  <Paragraphs>186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Cambria</vt:lpstr>
      <vt:lpstr>Wingdings</vt:lpstr>
      <vt:lpstr>Microsoft YaHei</vt:lpstr>
      <vt:lpstr>Arial Unicode MS</vt:lpstr>
      <vt:lpstr>Calibri</vt:lpstr>
      <vt:lpstr>Communications and Dialogues</vt:lpstr>
      <vt:lpstr>Pakistan and UNO and it’s organs</vt:lpstr>
      <vt:lpstr>Introduction to the United Nations</vt:lpstr>
      <vt:lpstr>Objectives of the UN</vt:lpstr>
      <vt:lpstr>Official Languages</vt:lpstr>
      <vt:lpstr>Main Organs of the UN</vt:lpstr>
      <vt:lpstr>General Assembly (GA)</vt:lpstr>
      <vt:lpstr>Key Functions</vt:lpstr>
      <vt:lpstr>Security Council (UNSC)</vt:lpstr>
      <vt:lpstr>continue</vt:lpstr>
      <vt:lpstr>Economic and Social Council (ECOSOC)</vt:lpstr>
      <vt:lpstr>International Court of Justice (ICJ)</vt:lpstr>
      <vt:lpstr>Secretariat</vt:lpstr>
      <vt:lpstr>Trusteeship Council</vt:lpstr>
      <vt:lpstr>Pakistan and the UN</vt:lpstr>
      <vt:lpstr>Pakistan’s Role in UN Peacekeeping</vt:lpstr>
      <vt:lpstr>Pakistan in UN Agencies</vt:lpstr>
      <vt:lpstr>Pakistan’s Contributions to UN Goals</vt:lpstr>
      <vt:lpstr>Challenges Faced by Pakistan in UN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ayesh</dc:creator>
  <cp:lastModifiedBy>ayesh</cp:lastModifiedBy>
  <cp:revision>5</cp:revision>
  <dcterms:created xsi:type="dcterms:W3CDTF">2025-07-23T00:59:00Z</dcterms:created>
  <dcterms:modified xsi:type="dcterms:W3CDTF">2026-04-12T11:43:50Z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89C3897D13C043F0BC132AC185CE3CA8_11</vt:lpwstr>
  </property>
  <property fmtid="{D5CDD505-2E9C-101B-9397-08002B2CF9AE}" pid="3" name="KSOProductBuildVer">
    <vt:lpwstr>1033-12.2.0.23196</vt:lpwstr>
  </property>
</Properties>
</file>