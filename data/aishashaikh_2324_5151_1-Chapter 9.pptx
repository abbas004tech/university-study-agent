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780" y="688340"/>
            <a:ext cx="10045700" cy="2096135"/>
          </a:xfrm>
        </p:spPr>
        <p:txBody>
          <a:bodyPr/>
          <a:p>
            <a:r>
              <a:rPr lang="en-US" sz="4000" b="1">
                <a:latin typeface="Bodoni MT" panose="02070603080606020203" charset="0"/>
                <a:cs typeface="Bodoni MT" panose="02070603080606020203" charset="0"/>
              </a:rPr>
              <a:t>Pakistan Relations with neighboring countries (a) China (b) India (c) Afghanistan (d) Iran</a:t>
            </a:r>
            <a:endParaRPr lang="en-US" sz="4000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3186" y="5200015"/>
            <a:ext cx="9218083" cy="1752600"/>
          </a:xfrm>
        </p:spPr>
        <p:txBody>
          <a:bodyPr/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Bell MT" panose="02020503060305020303" charset="0"/>
                <a:cs typeface="Bell MT" panose="02020503060305020303" charset="0"/>
              </a:rPr>
              <a:t>Aisha Shaikh</a:t>
            </a:r>
            <a:endParaRPr lang="en-US">
              <a:solidFill>
                <a:schemeClr val="bg1">
                  <a:lumMod val="75000"/>
                </a:schemeClr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Bodoni MT" panose="02070603080606020203" charset="0"/>
                <a:cs typeface="Bodoni MT" panose="02070603080606020203" charset="0"/>
              </a:rPr>
              <a:t>Importance of relations with neighbours</a:t>
            </a:r>
            <a:endParaRPr lang="en-US" altLang="en-US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0"/>
            <a:ext cx="10972800" cy="4953000"/>
          </a:xfrm>
        </p:spPr>
        <p:txBody>
          <a:bodyPr/>
          <a:p>
            <a:r>
              <a:rPr lang="en-US" altLang="en-US"/>
              <a:t>Regional peace and stability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Economic cooperation and trade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Security and border management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Cultural and political interaction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Pakistan’s relations with neighbours vary from strategic partnerships to conflicts and challenges.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Bodoni MT" panose="02070603080606020203" charset="0"/>
                <a:cs typeface="Bodoni MT" panose="02070603080606020203" charset="0"/>
              </a:rPr>
              <a:t>Pakistan–China Relations</a:t>
            </a:r>
            <a:endParaRPr lang="en-US" altLang="en-US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174750"/>
            <a:ext cx="11642725" cy="5427980"/>
          </a:xfrm>
        </p:spPr>
        <p:txBody>
          <a:bodyPr/>
          <a:p>
            <a:pPr marL="0" indent="0">
              <a:buNone/>
            </a:pPr>
            <a:r>
              <a:rPr lang="en-US" altLang="en-US" sz="2800"/>
              <a:t>Pakistan and China have very strong diplomatic relations.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Often called “All-Weather Strategic Cooperative Partnership.”</a:t>
            </a:r>
            <a:endParaRPr lang="en-US" altLang="en-US"/>
          </a:p>
          <a:p>
            <a:r>
              <a:rPr lang="en-US" altLang="en-US" sz="2800" b="1">
                <a:latin typeface="+mj-lt"/>
                <a:cs typeface="+mj-lt"/>
              </a:rPr>
              <a:t>Key features</a:t>
            </a:r>
            <a:endParaRPr lang="en-US" altLang="en-US" sz="2800" b="1">
              <a:latin typeface="+mj-lt"/>
              <a:cs typeface="+mj-lt"/>
            </a:endParaRPr>
          </a:p>
          <a:p>
            <a:r>
              <a:rPr lang="en-US" altLang="en-US"/>
              <a:t>Strong political trust</a:t>
            </a:r>
            <a:endParaRPr lang="en-US" altLang="en-US"/>
          </a:p>
          <a:p>
            <a:r>
              <a:rPr lang="en-US" altLang="en-US"/>
              <a:t>Military cooperation</a:t>
            </a:r>
            <a:endParaRPr lang="en-US" altLang="en-US"/>
          </a:p>
          <a:p>
            <a:r>
              <a:rPr lang="en-US" altLang="en-US"/>
              <a:t>Economic collaboration</a:t>
            </a:r>
            <a:endParaRPr lang="en-US" altLang="en-US"/>
          </a:p>
          <a:p>
            <a:r>
              <a:rPr lang="en-US" altLang="en-US"/>
              <a:t>Mutual support in international forums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China is considered Pakistan’s</a:t>
            </a:r>
            <a:r>
              <a:rPr lang="en-US" altLang="en-US" b="1"/>
              <a:t> closest strategic partner.</a:t>
            </a:r>
            <a:endParaRPr lang="en-US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Bodoni MT" panose="02070603080606020203" charset="0"/>
                <a:cs typeface="Bodoni MT" panose="02070603080606020203" charset="0"/>
              </a:rPr>
              <a:t>Economic Cooperation with China</a:t>
            </a:r>
            <a:endParaRPr lang="en-US" altLang="en-US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/>
              <a:t>Major economic cooperation projects include:</a:t>
            </a:r>
            <a:endParaRPr lang="en-US" altLang="en-US" sz="2800"/>
          </a:p>
          <a:p>
            <a:r>
              <a:rPr lang="en-US" altLang="en-US" sz="2800"/>
              <a:t>China–Pakistan Economic Corridor (CPEC)</a:t>
            </a:r>
            <a:endParaRPr lang="en-US" altLang="en-US" sz="2800"/>
          </a:p>
          <a:p>
            <a:r>
              <a:rPr lang="en-US" altLang="en-US" b="1"/>
              <a:t>Benefits:</a:t>
            </a:r>
            <a:endParaRPr lang="en-US" altLang="en-US" b="1"/>
          </a:p>
          <a:p>
            <a:r>
              <a:rPr lang="en-US" altLang="en-US"/>
              <a:t>Infrastructure development</a:t>
            </a:r>
            <a:endParaRPr lang="en-US" altLang="en-US"/>
          </a:p>
          <a:p>
            <a:r>
              <a:rPr lang="en-US" altLang="en-US"/>
              <a:t>Energy projects</a:t>
            </a:r>
            <a:endParaRPr lang="en-US" altLang="en-US"/>
          </a:p>
          <a:p>
            <a:r>
              <a:rPr lang="en-US" altLang="en-US"/>
              <a:t>Gwadar Port development</a:t>
            </a:r>
            <a:endParaRPr lang="en-US" altLang="en-US"/>
          </a:p>
          <a:p>
            <a:r>
              <a:rPr lang="en-US" altLang="en-US"/>
              <a:t>Trade and regional connectivity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CPEC is part of China’s </a:t>
            </a:r>
            <a:r>
              <a:rPr lang="en-US" altLang="en-US" b="1"/>
              <a:t>Belt and Road Initiative</a:t>
            </a:r>
            <a:r>
              <a:rPr lang="en-US" altLang="en-US"/>
              <a:t> and aims to connect China with the Arabian Sea through Pakistan.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latin typeface="Bodoni MT" panose="02070603080606020203" charset="0"/>
                <a:cs typeface="Bodoni MT" panose="02070603080606020203" charset="0"/>
              </a:rPr>
              <a:t>Pakistan–India Relations</a:t>
            </a:r>
            <a:endParaRPr lang="en-US" altLang="en-US" sz="4000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/>
              <a:t>Pakistan and India have had tense relations since independence in 1947.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b="1"/>
              <a:t>Major issues</a:t>
            </a:r>
            <a:endParaRPr lang="en-US" altLang="en-US" b="1"/>
          </a:p>
          <a:p>
            <a:r>
              <a:rPr lang="en-US" altLang="en-US"/>
              <a:t>Kashmir dispute</a:t>
            </a:r>
            <a:endParaRPr lang="en-US" altLang="en-US"/>
          </a:p>
          <a:p>
            <a:r>
              <a:rPr lang="en-US" altLang="en-US"/>
              <a:t>Border tensions</a:t>
            </a:r>
            <a:endParaRPr lang="en-US" altLang="en-US"/>
          </a:p>
          <a:p>
            <a:r>
              <a:rPr lang="en-US" altLang="en-US"/>
              <a:t>Wars and military conflicts</a:t>
            </a:r>
            <a:endParaRPr lang="en-US" altLang="en-US"/>
          </a:p>
          <a:p>
            <a:r>
              <a:rPr lang="en-US" altLang="en-US"/>
              <a:t>Political mistrust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Despite tensions, both countries maintain diplomatic relations.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latin typeface="Bodoni MT" panose="02070603080606020203" charset="0"/>
                <a:cs typeface="Bodoni MT" panose="02070603080606020203" charset="0"/>
              </a:rPr>
              <a:t>Major Conflicts Between Pakistan and India</a:t>
            </a:r>
            <a:endParaRPr lang="en-US" altLang="en-US" sz="4000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Important wars and conflicts:</a:t>
            </a:r>
            <a:endParaRPr lang="en-US" altLang="en-US" b="1"/>
          </a:p>
          <a:p>
            <a:r>
              <a:rPr lang="en-US" altLang="en-US"/>
              <a:t>1947–48 Kashmir War</a:t>
            </a:r>
            <a:endParaRPr lang="en-US" altLang="en-US"/>
          </a:p>
          <a:p>
            <a:r>
              <a:rPr lang="en-US" altLang="en-US"/>
              <a:t>1965 War</a:t>
            </a:r>
            <a:endParaRPr lang="en-US" altLang="en-US"/>
          </a:p>
          <a:p>
            <a:r>
              <a:rPr lang="en-US" altLang="en-US"/>
              <a:t>1971 War (creation of Bangladesh)</a:t>
            </a:r>
            <a:endParaRPr lang="en-US" altLang="en-US"/>
          </a:p>
          <a:p>
            <a:r>
              <a:rPr lang="en-US" altLang="en-US"/>
              <a:t>Kargil Conflict (1999)</a:t>
            </a:r>
            <a:endParaRPr lang="en-US" altLang="en-US"/>
          </a:p>
          <a:p>
            <a:r>
              <a:rPr lang="en-US" altLang="en-US"/>
              <a:t>2025 War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Kashmir issue remains the central dispute between the two countries.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latin typeface="Bodoni MT" panose="02070603080606020203" charset="0"/>
                <a:cs typeface="Bodoni MT" panose="02070603080606020203" charset="0"/>
              </a:rPr>
              <a:t>Pakistan–Afghanistan Relations</a:t>
            </a:r>
            <a:endParaRPr lang="en-US" altLang="en-US" sz="4000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27430"/>
            <a:ext cx="10972800" cy="5830570"/>
          </a:xfrm>
        </p:spPr>
        <p:txBody>
          <a:bodyPr/>
          <a:p>
            <a:pPr marL="0" indent="0">
              <a:buNone/>
            </a:pPr>
            <a:r>
              <a:rPr lang="en-US" altLang="en-US" sz="2800"/>
              <a:t>Pakistan and Afghanistan share a 2,640 km border called the Durand Line.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Relations have been complex due to:</a:t>
            </a:r>
            <a:endParaRPr lang="en-US" altLang="en-US" sz="2800"/>
          </a:p>
          <a:p>
            <a:r>
              <a:rPr lang="en-US" altLang="en-US" sz="2400"/>
              <a:t>Border disputes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r>
              <a:rPr lang="en-US" altLang="en-US" sz="2400"/>
              <a:t>Refugee issues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Militancy and security concerns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Political instability in Afghanistan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Cross-Border Movement</a:t>
            </a: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90500"/>
            <a:ext cx="10972800" cy="582613"/>
          </a:xfrm>
        </p:spPr>
        <p:txBody>
          <a:bodyPr/>
          <a:p>
            <a:r>
              <a:rPr lang="en-US" altLang="en-US">
                <a:latin typeface="Bodoni MT" panose="02070603080606020203" charset="0"/>
                <a:cs typeface="Bodoni MT" panose="02070603080606020203" charset="0"/>
              </a:rPr>
              <a:t>Economic and Political Cooperation with Afghanistan</a:t>
            </a:r>
            <a:endParaRPr lang="en-US" altLang="en-US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Areas of cooperation include: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Trade agreements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Transit routes for Central Asia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Afghan refugees in Pakistan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Counter-terrorism cooperation</a:t>
            </a:r>
            <a:endParaRPr lang="en-US" altLang="en-US" sz="2400"/>
          </a:p>
          <a:p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However, tensions sometimes arise due to cross-border security issues.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>
                <a:latin typeface="Bodoni MT" panose="02070603080606020203" charset="0"/>
                <a:cs typeface="Bodoni MT" panose="02070603080606020203" charset="0"/>
              </a:rPr>
              <a:t>Pakistan–Iran Relations</a:t>
            </a:r>
            <a:endParaRPr lang="en-US" altLang="en-US" sz="4000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55370"/>
            <a:ext cx="10972800" cy="4953000"/>
          </a:xfrm>
        </p:spPr>
        <p:txBody>
          <a:bodyPr/>
          <a:p>
            <a:pPr marL="0" indent="0">
              <a:buNone/>
            </a:pPr>
            <a:r>
              <a:rPr lang="en-US" altLang="en-US" sz="2800"/>
              <a:t>Pakistan and Iran share a border in Balochistan region.</a:t>
            </a:r>
            <a:endParaRPr lang="en-US" altLang="en-US" sz="2800"/>
          </a:p>
          <a:p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Key areas of cooperation: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Energy cooperation (gas pipelines and Oil)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Trade and border markets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Cultural and religious ties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Regional diplomacy</a:t>
            </a:r>
            <a:endParaRPr lang="en-US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latin typeface="Bodoni MT" panose="02070603080606020203" charset="0"/>
                <a:cs typeface="Bodoni MT" panose="02070603080606020203" charset="0"/>
              </a:rPr>
              <a:t>Challenges in Pakistan–Iran Relations</a:t>
            </a:r>
            <a:endParaRPr lang="en-US" altLang="en-US" sz="4000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Some issues affecting relations: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Border security problems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Smuggling and militancy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Regional geopolitical pressures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Sanctions affecting economic projects</a:t>
            </a:r>
            <a:endParaRPr lang="en-US" altLang="en-US" sz="2400"/>
          </a:p>
          <a:p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Despite challenges, both countries maintain diplomatic cooperation.</a:t>
            </a: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latin typeface="Bodoni MT" panose="02070603080606020203" charset="0"/>
                <a:cs typeface="Bodoni MT" panose="02070603080606020203" charset="0"/>
              </a:rPr>
              <a:t>Comparison of Relations</a:t>
            </a:r>
            <a:endParaRPr lang="en-US" altLang="en-US" sz="4000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1473180" cy="4953000"/>
          </a:xfrm>
        </p:spPr>
        <p:txBody>
          <a:bodyPr/>
          <a:p>
            <a:pPr marL="0" indent="0">
              <a:buNone/>
            </a:pPr>
            <a:r>
              <a:rPr lang="en-US" b="1"/>
              <a:t>Country                                            Nature of relations              </a:t>
            </a:r>
            <a:endParaRPr lang="en-US" b="1"/>
          </a:p>
          <a:p>
            <a:r>
              <a:rPr lang="en-US">
                <a:latin typeface="Cambria" panose="02040503050406030204" charset="0"/>
                <a:cs typeface="Cambria" panose="02040503050406030204" charset="0"/>
              </a:rPr>
              <a:t>China</a:t>
            </a:r>
            <a:r>
              <a:rPr lang="en-US">
                <a:latin typeface="Arial Rounded MT Bold" panose="020F0704030504030204" charset="0"/>
                <a:cs typeface="Arial Rounded MT Bold" panose="020F0704030504030204" charset="0"/>
              </a:rPr>
              <a:t>                                                         </a:t>
            </a:r>
            <a:r>
              <a:rPr lang="en-US">
                <a:latin typeface="Cambria" panose="02040503050406030204" charset="0"/>
                <a:cs typeface="Cambria" panose="02040503050406030204" charset="0"/>
              </a:rPr>
              <a:t>Strategic partner</a:t>
            </a:r>
            <a:endParaRPr lang="en-US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>
                <a:latin typeface="Cambria" panose="02040503050406030204" charset="0"/>
                <a:cs typeface="Cambria" panose="02040503050406030204" charset="0"/>
              </a:rPr>
              <a:t>India                                                                 Rival and conflictual </a:t>
            </a:r>
            <a:endParaRPr lang="en-US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>
                <a:latin typeface="Cambria" panose="02040503050406030204" charset="0"/>
                <a:cs typeface="Cambria" panose="02040503050406030204" charset="0"/>
              </a:rPr>
              <a:t>Afghanistan                                                    complex and sensitive</a:t>
            </a:r>
            <a:endParaRPr lang="en-US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>
                <a:latin typeface="Cambria" panose="02040503050406030204" charset="0"/>
                <a:cs typeface="Cambria" panose="02040503050406030204" charset="0"/>
              </a:rPr>
              <a:t>Iran                                                                 cooperative but cautious</a:t>
            </a:r>
            <a:endParaRPr lang="en-US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54685" y="1669415"/>
            <a:ext cx="10391140" cy="1460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 b="1">
                <a:latin typeface="Bell MT" panose="02020503060305020303" charset="0"/>
                <a:cs typeface="Bell MT" panose="02020503060305020303" charset="0"/>
              </a:rPr>
              <a:t>Conclusion</a:t>
            </a:r>
            <a:endParaRPr lang="en-US" altLang="en-US" sz="4000" b="1"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4905"/>
            <a:ext cx="10972800" cy="559371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Pakistan’s relations with neighbouring countries are crucial for: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Regional stability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Economic growth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Security cooperation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Diplomatic influence</a:t>
            </a:r>
            <a:endParaRPr lang="en-US" altLang="en-US" sz="2400"/>
          </a:p>
          <a:p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Strong diplomacy and peaceful cooperation can improve regional development and stability.</a:t>
            </a:r>
            <a:endParaRPr lang="en-US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3147</Words>
  <Application>WPS Presentation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Bodoni MT</vt:lpstr>
      <vt:lpstr>Bell MT</vt:lpstr>
      <vt:lpstr>Cambria</vt:lpstr>
      <vt:lpstr>Arial Rounded MT Bold</vt:lpstr>
      <vt:lpstr>Microsoft YaHei</vt:lpstr>
      <vt:lpstr>Arial Unicode MS</vt:lpstr>
      <vt:lpstr>Calibri</vt:lpstr>
      <vt:lpstr>Communications and Dialogues</vt:lpstr>
      <vt:lpstr>Pakistan Relations with neighboring countries (a) China (b) India (c) Afghanistan (d) Iran</vt:lpstr>
      <vt:lpstr>Importance of relations with neighbours</vt:lpstr>
      <vt:lpstr>Pakistan–China Relations</vt:lpstr>
      <vt:lpstr>Economic Cooperation with China</vt:lpstr>
      <vt:lpstr>Pakistan–India Relations</vt:lpstr>
      <vt:lpstr>Major Conflicts Between Pakistan and India</vt:lpstr>
      <vt:lpstr>Pakistan–Afghanistan Relations</vt:lpstr>
      <vt:lpstr>Economic and Political Cooperation with Afghanistan</vt:lpstr>
      <vt:lpstr>Pakistan–Iran Relations</vt:lpstr>
      <vt:lpstr>Challenges in Pakistan–Iran Relations</vt:lpstr>
      <vt:lpstr>Comparison of Relations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ayesh</dc:creator>
  <cp:lastModifiedBy>ayesh</cp:lastModifiedBy>
  <cp:revision>5</cp:revision>
  <dcterms:created xsi:type="dcterms:W3CDTF">2025-07-23T00:59:00Z</dcterms:created>
  <dcterms:modified xsi:type="dcterms:W3CDTF">2026-03-28T08:13:51Z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41734C32D5594815A516CF0123C0C308_11</vt:lpwstr>
  </property>
  <property fmtid="{D5CDD505-2E9C-101B-9397-08002B2CF9AE}" pid="3" name="KSOProductBuildVer">
    <vt:lpwstr>1033-12.2.0.23196</vt:lpwstr>
  </property>
</Properties>
</file>