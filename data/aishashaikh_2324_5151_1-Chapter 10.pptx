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12206817" cy="6867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rtl="0" fontAlgn="base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0545" y="1035685"/>
            <a:ext cx="11641455" cy="1082675"/>
          </a:xfrm>
        </p:spPr>
        <p:txBody>
          <a:bodyPr/>
          <a:p>
            <a:r>
              <a:rPr lang="en-US" sz="4800" b="1">
                <a:latin typeface="Algerian" panose="04020705040A02060702" charset="0"/>
                <a:cs typeface="Algerian" panose="04020705040A02060702" charset="0"/>
              </a:rPr>
              <a:t>Relations with Muslim Countries</a:t>
            </a:r>
            <a:endParaRPr lang="en-US" sz="4800" b="1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13026" y="5105400"/>
            <a:ext cx="9218083" cy="1752600"/>
          </a:xfrm>
        </p:spPr>
        <p:txBody>
          <a:bodyPr/>
          <a:p>
            <a:r>
              <a:rPr lang="en-US" sz="2800">
                <a:solidFill>
                  <a:schemeClr val="bg1">
                    <a:lumMod val="65000"/>
                  </a:schemeClr>
                </a:solidFill>
              </a:rPr>
              <a:t>Aisha Shaikh</a:t>
            </a:r>
            <a:endParaRPr lang="en-US" sz="280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Algerian" panose="04020705040A02060702" charset="0"/>
                <a:cs typeface="Algerian" panose="04020705040A02060702" charset="0"/>
              </a:rPr>
              <a:t>Introduction</a:t>
            </a:r>
            <a:endParaRPr lang="en-US" altLang="en-US" b="1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Pakistan has strong relations with Muslim countries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Based on shared religion (Islam), history, and culture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Important part of Pakistan’s foreign policy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Focus on cooperation, unity, and mutual support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Algerian" panose="04020705040A02060702" charset="0"/>
                <a:cs typeface="Algerian" panose="04020705040A02060702" charset="0"/>
              </a:rPr>
              <a:t>Objectives of Relations</a:t>
            </a:r>
            <a:endParaRPr lang="en-US" altLang="en-US" b="1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Promote unity among Muslim countries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Strengthen economic and trade partnerships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Support Muslim causes (Palestine, Kashmir)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Ensure regional peace and stability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1880" y="190500"/>
            <a:ext cx="10972800" cy="582613"/>
          </a:xfrm>
        </p:spPr>
        <p:txBody>
          <a:bodyPr/>
          <a:p>
            <a:r>
              <a:rPr lang="en-US" altLang="en-US" b="1">
                <a:latin typeface="Algerian" panose="04020705040A02060702" charset="0"/>
                <a:cs typeface="Algerian" panose="04020705040A02060702" charset="0"/>
              </a:rPr>
              <a:t>Organization of Islamic Cooperation(OIC)</a:t>
            </a:r>
            <a:endParaRPr lang="en-US" altLang="en-US" b="1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2800"/>
              <a:t>Pakistan is a founding member of the Organization of Islamic Cooperation (OIC).</a:t>
            </a:r>
            <a:endParaRPr lang="en-US" altLang="en-US" sz="2800"/>
          </a:p>
          <a:p>
            <a:endParaRPr lang="en-US" altLang="en-US" sz="2800"/>
          </a:p>
          <a:p>
            <a:r>
              <a:rPr lang="en-US" altLang="en-US" sz="2800"/>
              <a:t>Platform for Muslim countries to work together</a:t>
            </a:r>
            <a:endParaRPr lang="en-US" altLang="en-US" sz="2800"/>
          </a:p>
          <a:p>
            <a:endParaRPr lang="en-US" altLang="en-US" sz="2800"/>
          </a:p>
          <a:p>
            <a:r>
              <a:rPr lang="en-US" altLang="en-US" sz="2800"/>
              <a:t>Addresses political, economic, and social issues</a:t>
            </a:r>
            <a:endParaRPr lang="en-US" altLang="en-US" sz="2800"/>
          </a:p>
          <a:p>
            <a:endParaRPr lang="en-US" altLang="en-US" sz="2800"/>
          </a:p>
          <a:p>
            <a:r>
              <a:rPr lang="en-US" altLang="en-US" sz="2800"/>
              <a:t>Pakistan hosted the Islamic Summit in 1974 (Lahore)</a:t>
            </a:r>
            <a:endParaRPr lang="en-US" altLang="en-US" sz="2800"/>
          </a:p>
          <a:p>
            <a:endParaRPr lang="en-US" altLang="en-US" sz="2800"/>
          </a:p>
          <a:p>
            <a:r>
              <a:rPr lang="en-US" altLang="en-US" sz="2800"/>
              <a:t>Supports issues like (Palestine and Kashmir)</a:t>
            </a:r>
            <a:endParaRPr lang="en-US" altLang="en-US"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Algerian" panose="04020705040A02060702" charset="0"/>
                <a:cs typeface="Algerian" panose="04020705040A02060702" charset="0"/>
              </a:rPr>
              <a:t>Relations with Saudi Arabia</a:t>
            </a:r>
            <a:endParaRPr lang="en-US" altLang="en-US" b="1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41400"/>
            <a:ext cx="10972800" cy="5086350"/>
          </a:xfrm>
        </p:spPr>
        <p:txBody>
          <a:bodyPr/>
          <a:p>
            <a:r>
              <a:rPr lang="en-US" altLang="en-US" sz="2800"/>
              <a:t>Close and friendly relations</a:t>
            </a:r>
            <a:endParaRPr lang="en-US" altLang="en-US" sz="2800"/>
          </a:p>
          <a:p>
            <a:endParaRPr lang="en-US" altLang="en-US" sz="2800"/>
          </a:p>
          <a:p>
            <a:r>
              <a:rPr lang="en-US" altLang="en-US" sz="2800" b="1"/>
              <a:t>Saudi Arabia provides:</a:t>
            </a:r>
            <a:endParaRPr lang="en-US" altLang="en-US" sz="2800" b="1"/>
          </a:p>
          <a:p>
            <a:endParaRPr lang="en-US" altLang="en-US" sz="2800"/>
          </a:p>
          <a:p>
            <a:pPr>
              <a:buFont typeface="Wingdings" panose="05000000000000000000" charset="0"/>
              <a:buChar char="Ø"/>
            </a:pPr>
            <a:r>
              <a:rPr lang="en-US" altLang="en-US" sz="2800"/>
              <a:t> Financial aid</a:t>
            </a:r>
            <a:endParaRPr lang="en-US" altLang="en-US" sz="2800"/>
          </a:p>
          <a:p>
            <a:endParaRPr lang="en-US" altLang="en-US" sz="2800"/>
          </a:p>
          <a:p>
            <a:pPr>
              <a:buFont typeface="Wingdings" panose="05000000000000000000" charset="0"/>
              <a:buChar char="Ø"/>
            </a:pPr>
            <a:r>
              <a:rPr lang="en-US" altLang="en-US" sz="2800"/>
              <a:t> Oil on easy terms</a:t>
            </a:r>
            <a:endParaRPr lang="en-US" altLang="en-US" sz="2800"/>
          </a:p>
          <a:p>
            <a:endParaRPr lang="en-US" altLang="en-US" sz="2800"/>
          </a:p>
          <a:p>
            <a:r>
              <a:rPr lang="en-US" altLang="en-US" sz="2800"/>
              <a:t>Cooperation in defense and security</a:t>
            </a:r>
            <a:endParaRPr lang="en-US" altLang="en-US" sz="2800"/>
          </a:p>
          <a:p>
            <a:endParaRPr lang="en-US" altLang="en-US" sz="2800"/>
          </a:p>
          <a:p>
            <a:r>
              <a:rPr lang="en-US" altLang="en-US" sz="2800"/>
              <a:t>Many Pakistanis work there and send remittances</a:t>
            </a:r>
            <a:endParaRPr lang="en-US" altLang="en-US" sz="2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Algerian" panose="04020705040A02060702" charset="0"/>
                <a:cs typeface="Algerian" panose="04020705040A02060702" charset="0"/>
              </a:rPr>
              <a:t>Relations with Turkey</a:t>
            </a:r>
            <a:endParaRPr lang="en-US" altLang="en-US" b="1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2800"/>
              <a:t>Strong historical friendship</a:t>
            </a:r>
            <a:endParaRPr lang="en-US" altLang="en-US" sz="2800"/>
          </a:p>
          <a:p>
            <a:endParaRPr lang="en-US" altLang="en-US" sz="2800"/>
          </a:p>
          <a:p>
            <a:r>
              <a:rPr lang="en-US" altLang="en-US" sz="2800" b="1"/>
              <a:t>Cooperation in:</a:t>
            </a:r>
            <a:endParaRPr lang="en-US" altLang="en-US" sz="2800" b="1"/>
          </a:p>
          <a:p>
            <a:endParaRPr lang="en-US" altLang="en-US" sz="2800"/>
          </a:p>
          <a:p>
            <a:pPr>
              <a:buFont typeface="Wingdings" panose="05000000000000000000" charset="0"/>
              <a:buChar char="Ø"/>
            </a:pPr>
            <a:r>
              <a:rPr lang="en-US" altLang="en-US" sz="2800"/>
              <a:t>Defense (military training, equipment)</a:t>
            </a:r>
            <a:endParaRPr lang="en-US" altLang="en-US" sz="2800"/>
          </a:p>
          <a:p>
            <a:endParaRPr lang="en-US" altLang="en-US" sz="2800"/>
          </a:p>
          <a:p>
            <a:pPr>
              <a:buFont typeface="Wingdings" panose="05000000000000000000" charset="0"/>
              <a:buChar char="Ø"/>
            </a:pPr>
            <a:r>
              <a:rPr lang="en-US" altLang="en-US" sz="2800"/>
              <a:t>Trade and business</a:t>
            </a:r>
            <a:endParaRPr lang="en-US" altLang="en-US" sz="2800"/>
          </a:p>
          <a:p>
            <a:endParaRPr lang="en-US" altLang="en-US" sz="2800"/>
          </a:p>
          <a:p>
            <a:r>
              <a:rPr lang="en-US" altLang="en-US" sz="2800"/>
              <a:t>Support each other on international issues</a:t>
            </a:r>
            <a:endParaRPr lang="en-US" altLang="en-US" sz="2800"/>
          </a:p>
          <a:p>
            <a:endParaRPr lang="en-US" altLang="en-US" sz="2800"/>
          </a:p>
          <a:p>
            <a:r>
              <a:rPr lang="en-US" altLang="en-US" sz="2800"/>
              <a:t>Cultural ties (media, dramas, tourism)</a:t>
            </a:r>
            <a:endParaRPr lang="en-US" altLang="en-US" sz="2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Algerian" panose="04020705040A02060702" charset="0"/>
                <a:cs typeface="Algerian" panose="04020705040A02060702" charset="0"/>
              </a:rPr>
              <a:t>Relations with UAE</a:t>
            </a:r>
            <a:endParaRPr lang="en-US" altLang="en-US" b="1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UAE is a major trade partner.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Large number of Pakistani workers live there.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Provides investment and financial support.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Strong diplomatic relations.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Algerian" panose="04020705040A02060702" charset="0"/>
                <a:cs typeface="Algerian" panose="04020705040A02060702" charset="0"/>
              </a:rPr>
              <a:t>Relations with Iran</a:t>
            </a:r>
            <a:endParaRPr lang="en-US" altLang="en-US" b="1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42340"/>
            <a:ext cx="10972800" cy="5185410"/>
          </a:xfrm>
        </p:spPr>
        <p:txBody>
          <a:bodyPr/>
          <a:p>
            <a:r>
              <a:rPr lang="en-US" altLang="en-US" sz="2400"/>
              <a:t>Neighboring Muslim country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 b="1"/>
              <a:t>Cooperation in:</a:t>
            </a:r>
            <a:endParaRPr lang="en-US" altLang="en-US" sz="2400" b="1"/>
          </a:p>
          <a:p>
            <a:endParaRPr lang="en-US" altLang="en-US" sz="2400"/>
          </a:p>
          <a:p>
            <a:pPr>
              <a:buFont typeface="Wingdings" panose="05000000000000000000" charset="0"/>
              <a:buChar char="Ø"/>
            </a:pPr>
            <a:r>
              <a:rPr lang="en-US" altLang="en-US" sz="2400"/>
              <a:t>Trade</a:t>
            </a:r>
            <a:endParaRPr lang="en-US" altLang="en-US" sz="2400"/>
          </a:p>
          <a:p>
            <a:endParaRPr lang="en-US" altLang="en-US" sz="2400"/>
          </a:p>
          <a:p>
            <a:pPr>
              <a:buFont typeface="Wingdings" panose="05000000000000000000" charset="0"/>
              <a:buChar char="Ø"/>
            </a:pPr>
            <a:r>
              <a:rPr lang="en-US" altLang="en-US" sz="2400"/>
              <a:t>Energy (gas pipeline)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 b="1"/>
              <a:t>Challenges:</a:t>
            </a:r>
            <a:endParaRPr lang="en-US" altLang="en-US" sz="2400" b="1"/>
          </a:p>
          <a:p>
            <a:endParaRPr lang="en-US" altLang="en-US" sz="2400"/>
          </a:p>
          <a:p>
            <a:pPr>
              <a:buFont typeface="Wingdings" panose="05000000000000000000" charset="0"/>
              <a:buChar char="Ø"/>
            </a:pPr>
            <a:r>
              <a:rPr lang="en-US" altLang="en-US" sz="2400"/>
              <a:t>Border security issues</a:t>
            </a:r>
            <a:endParaRPr lang="en-US" altLang="en-US" sz="2400"/>
          </a:p>
          <a:p>
            <a:endParaRPr lang="en-US" altLang="en-US" sz="2400"/>
          </a:p>
          <a:p>
            <a:pPr>
              <a:buFont typeface="Wingdings" panose="05000000000000000000" charset="0"/>
              <a:buChar char="Ø"/>
            </a:pPr>
            <a:r>
              <a:rPr lang="en-US" altLang="en-US" sz="2400"/>
              <a:t>Regional tensions</a:t>
            </a:r>
            <a:endParaRPr lang="en-US" altLang="en-US"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Algerian" panose="04020705040A02060702" charset="0"/>
                <a:cs typeface="Algerian" panose="04020705040A02060702" charset="0"/>
              </a:rPr>
              <a:t>Relations with Afghanistan</a:t>
            </a:r>
            <a:endParaRPr lang="en-US" altLang="en-US" b="1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9575" y="1174750"/>
            <a:ext cx="10972800" cy="4953000"/>
          </a:xfrm>
        </p:spPr>
        <p:txBody>
          <a:bodyPr/>
          <a:p>
            <a:r>
              <a:rPr lang="en-US" altLang="en-US" sz="2800"/>
              <a:t>Shared border and culture</a:t>
            </a:r>
            <a:endParaRPr lang="en-US" altLang="en-US" sz="2800"/>
          </a:p>
          <a:p>
            <a:endParaRPr lang="en-US" altLang="en-US" sz="2800"/>
          </a:p>
          <a:p>
            <a:r>
              <a:rPr lang="en-US" altLang="en-US" sz="2800"/>
              <a:t>Trade and transit agreements</a:t>
            </a:r>
            <a:endParaRPr lang="en-US" altLang="en-US" sz="2800"/>
          </a:p>
          <a:p>
            <a:endParaRPr lang="en-US" altLang="en-US" sz="2800"/>
          </a:p>
          <a:p>
            <a:r>
              <a:rPr lang="en-US" altLang="en-US" sz="2800"/>
              <a:t>Pakistan hosts Afghan refugees</a:t>
            </a:r>
            <a:endParaRPr lang="en-US" altLang="en-US" sz="2800"/>
          </a:p>
          <a:p>
            <a:endParaRPr lang="en-US" altLang="en-US" sz="2800"/>
          </a:p>
          <a:p>
            <a:r>
              <a:rPr lang="en-US" altLang="en-US" sz="2800" b="1"/>
              <a:t>Challenges:</a:t>
            </a:r>
            <a:endParaRPr lang="en-US" altLang="en-US" sz="2800" b="1"/>
          </a:p>
          <a:p>
            <a:endParaRPr lang="en-US" altLang="en-US" sz="2800"/>
          </a:p>
          <a:p>
            <a:pPr>
              <a:buFont typeface="Wingdings" panose="05000000000000000000" charset="0"/>
              <a:buChar char="Ø"/>
            </a:pPr>
            <a:r>
              <a:rPr lang="en-US" altLang="en-US" sz="2800"/>
              <a:t>Border disputes</a:t>
            </a:r>
            <a:endParaRPr lang="en-US" altLang="en-US" sz="2800"/>
          </a:p>
          <a:p>
            <a:endParaRPr lang="en-US" altLang="en-US" sz="2800"/>
          </a:p>
          <a:p>
            <a:pPr>
              <a:buFont typeface="Wingdings" panose="05000000000000000000" charset="0"/>
              <a:buChar char="Ø"/>
            </a:pPr>
            <a:r>
              <a:rPr lang="en-US" altLang="en-US" sz="2800"/>
              <a:t>Security concerns</a:t>
            </a:r>
            <a:endParaRPr lang="en-US" altLang="en-US" sz="2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Algerian" panose="04020705040A02060702" charset="0"/>
                <a:cs typeface="Algerian" panose="04020705040A02060702" charset="0"/>
              </a:rPr>
              <a:t>Relations with Other Muslim Countries</a:t>
            </a:r>
            <a:endParaRPr lang="en-US" altLang="en-US" b="1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25830"/>
            <a:ext cx="10972800" cy="5201920"/>
          </a:xfrm>
        </p:spPr>
        <p:txBody>
          <a:bodyPr/>
          <a:p>
            <a:r>
              <a:rPr lang="en-US" altLang="en-US" sz="2800" b="1"/>
              <a:t>Friendly relations with:</a:t>
            </a:r>
            <a:endParaRPr lang="en-US" altLang="en-US" sz="2800" b="1"/>
          </a:p>
          <a:p>
            <a:endParaRPr lang="en-US" altLang="en-US" sz="2000"/>
          </a:p>
          <a:p>
            <a:pPr>
              <a:buFont typeface="Wingdings" panose="05000000000000000000" charset="0"/>
              <a:buChar char="Ø"/>
            </a:pPr>
            <a:r>
              <a:rPr lang="en-US" altLang="en-US" sz="2000"/>
              <a:t>Malaysia</a:t>
            </a:r>
            <a:endParaRPr lang="en-US" altLang="en-US" sz="2000"/>
          </a:p>
          <a:p>
            <a:endParaRPr lang="en-US" altLang="en-US" sz="2000"/>
          </a:p>
          <a:p>
            <a:pPr>
              <a:buFont typeface="Wingdings" panose="05000000000000000000" charset="0"/>
              <a:buChar char="Ø"/>
            </a:pPr>
            <a:r>
              <a:rPr lang="en-US" altLang="en-US" sz="2000"/>
              <a:t>Indonesia</a:t>
            </a:r>
            <a:endParaRPr lang="en-US" altLang="en-US" sz="2000"/>
          </a:p>
          <a:p>
            <a:endParaRPr lang="en-US" altLang="en-US" sz="2000"/>
          </a:p>
          <a:p>
            <a:pPr>
              <a:buFont typeface="Wingdings" panose="05000000000000000000" charset="0"/>
              <a:buChar char="Ø"/>
            </a:pPr>
            <a:r>
              <a:rPr lang="en-US" altLang="en-US" sz="2000"/>
              <a:t>Qatar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800" b="1"/>
              <a:t>Cooperation in:</a:t>
            </a:r>
            <a:endParaRPr lang="en-US" altLang="en-US" sz="2800" b="1"/>
          </a:p>
          <a:p>
            <a:endParaRPr lang="en-US" altLang="en-US" sz="2000"/>
          </a:p>
          <a:p>
            <a:pPr>
              <a:buFont typeface="Wingdings" panose="05000000000000000000" charset="0"/>
              <a:buChar char="Ø"/>
            </a:pPr>
            <a:r>
              <a:rPr lang="en-US" altLang="en-US" sz="2000"/>
              <a:t>Trade</a:t>
            </a:r>
            <a:endParaRPr lang="en-US" altLang="en-US" sz="2000"/>
          </a:p>
          <a:p>
            <a:endParaRPr lang="en-US" altLang="en-US" sz="2000"/>
          </a:p>
          <a:p>
            <a:pPr>
              <a:buFont typeface="Wingdings" panose="05000000000000000000" charset="0"/>
              <a:buChar char="Ø"/>
            </a:pPr>
            <a:r>
              <a:rPr lang="en-US" altLang="en-US" sz="2000"/>
              <a:t>Education</a:t>
            </a:r>
            <a:endParaRPr lang="en-US" altLang="en-US" sz="2000"/>
          </a:p>
          <a:p>
            <a:endParaRPr lang="en-US" altLang="en-US" sz="2000"/>
          </a:p>
          <a:p>
            <a:pPr>
              <a:buFont typeface="Wingdings" panose="05000000000000000000" charset="0"/>
              <a:buChar char="Ø"/>
            </a:pPr>
            <a:r>
              <a:rPr lang="en-US" altLang="en-US" sz="2000"/>
              <a:t>Technology</a:t>
            </a:r>
            <a:endParaRPr lang="en-US" altLang="en-US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Algerian" panose="04020705040A02060702" charset="0"/>
                <a:cs typeface="Algerian" panose="04020705040A02060702" charset="0"/>
              </a:rPr>
              <a:t>Economic Cooperation</a:t>
            </a:r>
            <a:endParaRPr lang="en-US" altLang="en-US" b="1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Trade agreements with Muslim countries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Imports of oil and gas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Remittances from overseas Pakistanis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Growth of Islamic banking system</a:t>
            </a:r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Algerian" panose="04020705040A02060702" charset="0"/>
                <a:cs typeface="Algerian" panose="04020705040A02060702" charset="0"/>
              </a:rPr>
              <a:t>Defense Cooperation</a:t>
            </a:r>
            <a:endParaRPr lang="en-US" altLang="en-US" b="1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Joint military exercises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Defense agreements with friendly countries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Training programs for armed forces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Strong military ties with Turkey &amp; Saudi Arabia</a:t>
            </a:r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Algerian" panose="04020705040A02060702" charset="0"/>
                <a:cs typeface="Algerian" panose="04020705040A02060702" charset="0"/>
              </a:rPr>
              <a:t>Cultural &amp; Religious Relations</a:t>
            </a:r>
            <a:endParaRPr lang="en-US" altLang="en-US" b="1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Shared Islamic values and traditions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Celebration of religious festivals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Hajj and Umrah travel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Student and scholar exchange programs</a:t>
            </a:r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Algerian" panose="04020705040A02060702" charset="0"/>
                <a:cs typeface="Algerian" panose="04020705040A02060702" charset="0"/>
              </a:rPr>
              <a:t>Challenges</a:t>
            </a:r>
            <a:endParaRPr lang="en-US" altLang="en-US" b="1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Political differences among Muslim countries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Sectarian issues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Conflicts in the Middle East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Economic instability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External pressures (global powers)</a:t>
            </a:r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Algerian" panose="04020705040A02060702" charset="0"/>
                <a:cs typeface="Algerian" panose="04020705040A02060702" charset="0"/>
              </a:rPr>
              <a:t>Conclusion</a:t>
            </a:r>
            <a:endParaRPr lang="en-US" altLang="en-US" b="1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Pakistan maintains strong ties with Muslim countries.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Relations based on faith, culture, and mutual interests.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Cooperation is important for future development.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munications and Dialogues">
  <a:themeElements>
    <a:clrScheme name="Communications and Dialogu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Communications and Dialogu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Communications and Dialogu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2490</Words>
  <Application>WPS Presentation</Application>
  <PresentationFormat>Widescreen</PresentationFormat>
  <Paragraphs>172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SimSun</vt:lpstr>
      <vt:lpstr>Wingdings</vt:lpstr>
      <vt:lpstr>Algerian</vt:lpstr>
      <vt:lpstr>Wingdings</vt:lpstr>
      <vt:lpstr>Microsoft YaHei</vt:lpstr>
      <vt:lpstr>Arial Unicode MS</vt:lpstr>
      <vt:lpstr>Calibri</vt:lpstr>
      <vt:lpstr>Communications and Dialogues</vt:lpstr>
      <vt:lpstr>Relations with Muslim Countries</vt:lpstr>
      <vt:lpstr>Introduction</vt:lpstr>
      <vt:lpstr>Objectives of Relations</vt:lpstr>
      <vt:lpstr>Role of OIC</vt:lpstr>
      <vt:lpstr>Relations with Saudi Arabia</vt:lpstr>
      <vt:lpstr>Relations with Turkey</vt:lpstr>
      <vt:lpstr>Relations with UAE</vt:lpstr>
      <vt:lpstr>Relations with Iran</vt:lpstr>
      <vt:lpstr>Relations with Afghanistan</vt:lpstr>
      <vt:lpstr>Relations with Other Muslim Countries</vt:lpstr>
      <vt:lpstr>Economic Cooperation</vt:lpstr>
      <vt:lpstr>Defense Cooperation</vt:lpstr>
      <vt:lpstr>Cultural &amp; Religious Relations</vt:lpstr>
      <vt:lpstr>Challenges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ayesh</dc:creator>
  <cp:lastModifiedBy>ayesh</cp:lastModifiedBy>
  <cp:revision>4</cp:revision>
  <dcterms:created xsi:type="dcterms:W3CDTF">2025-07-23T00:59:00Z</dcterms:created>
  <dcterms:modified xsi:type="dcterms:W3CDTF">2026-04-05T08:02:46Z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1B2697E786D040F59EF7F5DD9A54F214_11</vt:lpwstr>
  </property>
  <property fmtid="{D5CDD505-2E9C-101B-9397-08002B2CF9AE}" pid="3" name="KSOProductBuildVer">
    <vt:lpwstr>1033-12.2.0.23196</vt:lpwstr>
  </property>
</Properties>
</file>